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I'm going to spend about fifteen minutes today walking you through Deus X Defense — what we're building, why now, and what we need a hundred million dollars to do next. Our pitch is simple. The security stack is broken in the same way the IT stack was broken twenty years ago — fragmented, human-bottlenecked, and slow. We are building the unified operating layer that fixes it. By the end of this deck you'll see why we think this is a category-defining opportunity, and why we're the team to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changed in the last thirty-six months that make this the right moment for a company like ours. One — drones went from toy to tool. They're now the defining weapon and the defining eye of the decade. Two — the threat environment escalated. Active-shooter incidents, critical-infrastructure attacks on power and water, drone incursions at airports — all trending the wrong way. And three — the FAA finally opened up the regulatory runway with Part 108 and BVLOS waivers. Demand is exploding, the tools are ready, and the rules let us operate. That window opened recently. We're walking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A Fortune 500 campus today runs its security off seven, eight, sometimes ten different vendors. One for guards. One for cameras. One for access control. One for monitoring. One for drones, if they have any. None of them talk to each other. When an incident happens, a human in a chair has to stitch the story together in real time from feeds that don't share a data model. Response time suffers. Insurance premiums don't. This is an integration problem, and nobody's solving it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opportunity is enormous and it's layered. The US private security market is roughly fifty billion dollars a year. Commercial drone services are about twelve billion and growing thirty percent annually. Physical security AI is another six billion. Our serviceable piece — critical infrastructure, campuses, estates, executive protection — we size at about eighteen billion today, growing to thirty-two by twenty-thirty. And we're targeting a forty-million-dollar slice of it in the next twenty-four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Deus X Defense. One line. We are the unified security stack — drones, vetted personnel, and AI-assisted command — delivered as a service. We're here. We know. We're ready. That's not marketing copy. It's the product promise. A client calls us, we put eyes in the air in minutes, we put boots on the ground on contract, and we surface everything through one command platform. That's the whole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pieces fit. At the bottom you have the sensing layer — drones, fixed cameras, access systems. In the middle, our AI detection and triage layer — that's the software. On top, our human response layer — vetted operators, executive protection, remote monitoring. And wrapping the whole stack, our command platform — the single pane of glass. Competitors sell you one of these layers. We sell you the whole thing, integrated from day one. That integration is the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product pillars. Drone-as-a-Service — on-demand aerial response with regulatory work handled. Manned Guarding — vetted armed, unarmed, and off-duty law enforcement. Remote Monitoring — twenty-four seven AI-assisted detection. Executive Protection — discreet, integrated with command. And Training — we train our own people and your people to the same standard. Every one of these is a standalone business. Together, they compound.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command platform. One screen. Every sensor, every asset, every officer, every drone — geolocated, classified, and queryable in real time. Threats are surfaced by the AI, verified by a human, dispatched to the closest asset. Average time from alert to eyes-on, ninety seconds. That's not the industry. That's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why we win. Anduril is defense-department — they sell hardware platforms to warfighters. They don't do commercial guarding, they don't do executive protection, they don't have a boots-on-the-ground arm. Orcist is an enterprise SaaS play — they integrate your existing vendors, they don't replace them. We do both. We own the full stack — software, hardware operations, and the human layer — and we deliver it as one service. Neither of them can show up to a school at 2 a.m. with a drone in the air and a licensed officer on scene in under ten minutes. We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These are realistic placeholders — I'll share the live numbers under NDA. We're operating across twelve metropolitan markets. We've flown over fourteen thousand response hours year-to-date. We're on contract with critical-infrastructure operators, school districts, and private estates. Annual recurring revenue is roughly twenty-two million and growing at a triple-digit rate year over year. Net revenue retention is a hundred and thirty-eight percent — once we're in, we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recurring and defensible. Seventy-eight percent of revenue is subscription — monthly coverage contracts. The rest is incident-based and project work. Gross margin is fifty-two percent blended — software-like on monitoring, services-like on guarding. Payback on a new contract is under nine months. Customer acquisition is disproportionately through referral and insurance-carrier partnerships, which keeps CAC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market. Three motions, ranked by priority. One — direct enterprise sales into critical infrastructure and Fortune 500 campus security. Two — channel partnerships with insurance carriers, who increasingly require a DXD-style integrated response to underwrite the policy. Three — public-sector pilots, which are long cycles but durable once won. We've proven all three. Now we scale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Our founders come from special operations, federal law enforcement, and Palantir-style forward-deployed engineering. Our advisory board includes former senior DoD leadership, a former director of the Secret Service, and two public-company security-industry CEOs. We have the operational credibility and the technical credibility. That's a rare combination in this space — and it's what lets us move fast without breaking regulatory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ask. One hundred million dollars, Series A. Roughly forty percent into fleet and coverage expansion — we're going from twelve markets to forty. Thirty percent into the command platform — engineering, AI, federal compliance work. Twenty percent into talent — operators, engineers, sales. Ten percent into working capital and balance-sheet strength to win enterprise contracts that require it. This capital takes us to two hundred million ARR and clear category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here. We know. We're ready. Thank you. I'd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image" Target="../media/image-5-2.webp"/><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image" Target="../media/image-6-2.webp"/><Relationship Id="rId3" Type="http://schemas.openxmlformats.org/officeDocument/2006/relationships/image" Target="../media/image-6-3.webp"/><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image" Target="../media/image-7-2.webp"/><Relationship Id="rId3" Type="http://schemas.openxmlformats.org/officeDocument/2006/relationships/image" Target="../media/image-7-3.webp"/><Relationship Id="rId4" Type="http://schemas.openxmlformats.org/officeDocument/2006/relationships/image" Target="../media/image-7-4.webp"/><Relationship Id="rId5" Type="http://schemas.openxmlformats.org/officeDocument/2006/relationships/image" Target="../media/image-7-5.webp"/><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webp"/><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image" Target="../media/image-15-2.webp"/><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620500" y="-1714500"/>
            <a:ext cx="8572500" cy="8572500"/>
          </a:xfrm>
          <a:prstGeom prst="rect">
            <a:avLst/>
          </a:prstGeom>
          <a:solidFill>
            <a:srgbClr val="C8102E">
              <a:alpha val="8000"/>
            </a:srgbClr>
          </a:solidFill>
          <a:ln/>
        </p:spPr>
      </p:sp>
      <p:pic>
        <p:nvPicPr>
          <p:cNvPr id="3" name="Image 0" descr="preencoded.png">    </p:cNvPr>
          <p:cNvPicPr>
            <a:picLocks noChangeAspect="1"/>
          </p:cNvPicPr>
          <p:nvPr/>
        </p:nvPicPr>
        <p:blipFill>
          <a:blip r:embed="rId1"/>
          <a:stretch>
            <a:fillRect/>
          </a:stretch>
        </p:blipFill>
        <p:spPr>
          <a:xfrm>
            <a:off x="1143000" y="1047750"/>
            <a:ext cx="1571625" cy="1047750"/>
          </a:xfrm>
          <a:prstGeom prst="rect">
            <a:avLst/>
          </a:prstGeom>
        </p:spPr>
      </p:pic>
      <p:sp>
        <p:nvSpPr>
          <p:cNvPr id="4" name="Shape 1"/>
          <p:cNvSpPr/>
          <p:nvPr/>
        </p:nvSpPr>
        <p:spPr>
          <a:xfrm>
            <a:off x="13526765" y="1047750"/>
            <a:ext cx="3618235" cy="552450"/>
          </a:xfrm>
          <a:prstGeom prst="roundRect">
            <a:avLst>
              <a:gd name="adj" fmla="val 50000"/>
            </a:avLst>
          </a:prstGeom>
          <a:ln w="9525">
            <a:solidFill>
              <a:srgbClr val="C8102E"/>
            </a:solidFill>
            <a:prstDash val="solid"/>
          </a:ln>
        </p:spPr>
      </p:sp>
      <p:sp>
        <p:nvSpPr>
          <p:cNvPr id="5" name="Shape 2"/>
          <p:cNvSpPr/>
          <p:nvPr/>
        </p:nvSpPr>
        <p:spPr>
          <a:xfrm>
            <a:off x="13726790" y="1285875"/>
            <a:ext cx="76200" cy="76200"/>
          </a:xfrm>
          <a:prstGeom prst="ellipse">
            <a:avLst/>
          </a:prstGeom>
          <a:solidFill>
            <a:srgbClr val="C8102E"/>
          </a:solidFill>
          <a:ln/>
          <a:effectLst>
            <a:outerShdw sx="100000" sy="100000" kx="0" ky="0" algn="bl" rotWithShape="0" blurRad="101600" dist="50800" dir="16200000">
              <a:srgbClr val="C8102E">
                <a:alpha val="25000"/>
              </a:srgbClr>
            </a:outerShdw>
          </a:effectLst>
        </p:spPr>
      </p:sp>
      <p:sp>
        <p:nvSpPr>
          <p:cNvPr id="6" name="Text 3"/>
          <p:cNvSpPr/>
          <p:nvPr/>
        </p:nvSpPr>
        <p:spPr>
          <a:xfrm>
            <a:off x="13898240" y="1152525"/>
            <a:ext cx="3138137"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C8102E"/>
                </a:solidFill>
                <a:latin typeface="Arial" pitchFamily="34" charset="0"/>
                <a:ea typeface="Arial" pitchFamily="34" charset="-122"/>
                <a:cs typeface="Arial" pitchFamily="34" charset="-120"/>
              </a:rPr>
              <a:t>SERIES A · CONFIDENTIAL</a:t>
            </a:r>
            <a:endParaRPr lang="en-US" sz="1800" dirty="0"/>
          </a:p>
        </p:txBody>
      </p:sp>
      <p:sp>
        <p:nvSpPr>
          <p:cNvPr id="7" name="Text 4"/>
          <p:cNvSpPr/>
          <p:nvPr/>
        </p:nvSpPr>
        <p:spPr>
          <a:xfrm>
            <a:off x="1143000" y="2286000"/>
            <a:ext cx="16482060" cy="409575"/>
          </a:xfrm>
          <a:prstGeom prst="rect">
            <a:avLst/>
          </a:prstGeom>
          <a:noFill/>
          <a:ln/>
        </p:spPr>
        <p:txBody>
          <a:bodyPr wrap="square" lIns="25400" tIns="25400" rIns="25400" bIns="25400" rtlCol="0" anchor="ctr">
            <a:normAutofit/>
          </a:bodyPr>
          <a:lstStyle/>
          <a:p>
            <a:pPr algn="l" indent="0" marL="0">
              <a:lnSpc>
                <a:spcPct val="150000"/>
              </a:lnSpc>
              <a:buNone/>
            </a:pPr>
            <a:r>
              <a:rPr lang="en-US" sz="1950" spc="429" kern="0" dirty="0">
                <a:solidFill>
                  <a:srgbClr val="C8102E"/>
                </a:solidFill>
                <a:latin typeface="Arial" pitchFamily="34" charset="0"/>
                <a:ea typeface="Arial" pitchFamily="34" charset="-122"/>
                <a:cs typeface="Arial" pitchFamily="34" charset="-120"/>
              </a:rPr>
              <a:t>THE FUTURE OF SECURITY IS TAKING SHAPE</a:t>
            </a:r>
            <a:endParaRPr lang="en-US" sz="1950" dirty="0"/>
          </a:p>
        </p:txBody>
      </p:sp>
      <p:sp>
        <p:nvSpPr>
          <p:cNvPr id="8" name="Text 5"/>
          <p:cNvSpPr/>
          <p:nvPr/>
        </p:nvSpPr>
        <p:spPr>
          <a:xfrm>
            <a:off x="1143000" y="3267075"/>
            <a:ext cx="15697200" cy="4097982"/>
          </a:xfrm>
          <a:prstGeom prst="rect">
            <a:avLst/>
          </a:prstGeom>
          <a:noFill/>
          <a:ln/>
        </p:spPr>
        <p:txBody>
          <a:bodyPr wrap="square" lIns="25400" tIns="25400" rIns="25400" bIns="25400" rtlCol="0" anchor="t">
            <a:normAutofit/>
          </a:bodyPr>
          <a:lstStyle/>
          <a:p>
            <a:pPr algn="l" indent="0" marL="0">
              <a:lnSpc>
                <a:spcPct val="96000"/>
              </a:lnSpc>
              <a:buNone/>
            </a:pPr>
            <a:r>
              <a:rPr lang="en-US" sz="11100" b="1" spc="-55" kern="0" dirty="0">
                <a:solidFill>
                  <a:srgbClr val="FFFFFF"/>
                </a:solidFill>
                <a:latin typeface="Arial" pitchFamily="34" charset="0"/>
                <a:ea typeface="Arial" pitchFamily="34" charset="-122"/>
                <a:cs typeface="Arial" pitchFamily="34" charset="-120"/>
              </a:rPr>
              <a:t>DEUS X DEFENSE. </a:t>
            </a:r>
            <a:pPr algn="l" indent="0" marL="0">
              <a:lnSpc>
                <a:spcPct val="96000"/>
              </a:lnSpc>
              <a:buNone/>
            </a:pPr>
            <a:r>
              <a:rPr lang="en-US" sz="11100" b="1" spc="-55" kern="0" dirty="0">
                <a:solidFill>
                  <a:srgbClr val="C8102E"/>
                </a:solidFill>
                <a:latin typeface="Arial" pitchFamily="34" charset="0"/>
                <a:ea typeface="Arial" pitchFamily="34" charset="-122"/>
                <a:cs typeface="Arial" pitchFamily="34" charset="-120"/>
              </a:rPr>
              <a:t>SERIES A.</a:t>
            </a:r>
            <a:endParaRPr lang="en-US" sz="11100" dirty="0"/>
          </a:p>
        </p:txBody>
      </p:sp>
      <p:sp>
        <p:nvSpPr>
          <p:cNvPr id="9" name="Text 6"/>
          <p:cNvSpPr/>
          <p:nvPr/>
        </p:nvSpPr>
        <p:spPr>
          <a:xfrm>
            <a:off x="1143000" y="7669857"/>
            <a:ext cx="10791825" cy="929580"/>
          </a:xfrm>
          <a:prstGeom prst="rect">
            <a:avLst/>
          </a:prstGeom>
          <a:noFill/>
          <a:ln/>
        </p:spPr>
        <p:txBody>
          <a:bodyPr wrap="square" lIns="25400" tIns="25400" rIns="25400" bIns="25400" rtlCol="0" anchor="t">
            <a:normAutofit/>
          </a:bodyPr>
          <a:lstStyle/>
          <a:p>
            <a:pPr algn="l" indent="0" marL="0">
              <a:lnSpc>
                <a:spcPct val="130000"/>
              </a:lnSpc>
              <a:buNone/>
            </a:pPr>
            <a:r>
              <a:rPr lang="en-US" sz="2700" spc="-13" kern="0" dirty="0">
                <a:solidFill>
                  <a:srgbClr val="9A9AA3"/>
                </a:solidFill>
                <a:latin typeface="Arial" pitchFamily="34" charset="0"/>
                <a:ea typeface="Arial" pitchFamily="34" charset="-122"/>
                <a:cs typeface="Arial" pitchFamily="34" charset="-120"/>
              </a:rPr>
              <a:t>Investor briefing — Series A · $100M raise to build the unified security stack for critical infrastructure, campuses, and public safety.</a:t>
            </a:r>
            <a:endParaRPr lang="en-US" sz="2700" dirty="0"/>
          </a:p>
        </p:txBody>
      </p:sp>
      <p:sp>
        <p:nvSpPr>
          <p:cNvPr id="10" name="Text 7"/>
          <p:cNvSpPr/>
          <p:nvPr/>
        </p:nvSpPr>
        <p:spPr>
          <a:xfrm>
            <a:off x="1143000" y="8751838"/>
            <a:ext cx="5934507"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DEUS X DEFENSE · EST. 2023 · UNITED STATES</a:t>
            </a:r>
            <a:endParaRPr lang="en-US" sz="1800" dirty="0"/>
          </a:p>
        </p:txBody>
      </p:sp>
      <p:sp>
        <p:nvSpPr>
          <p:cNvPr id="11" name="Text 8"/>
          <p:cNvSpPr/>
          <p:nvPr/>
        </p:nvSpPr>
        <p:spPr>
          <a:xfrm>
            <a:off x="15773177" y="8751838"/>
            <a:ext cx="144802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APRIL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848656" y="419100"/>
            <a:ext cx="237254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02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WHY NOW</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THREE SHIFTS · ONE WINDOW</a:t>
            </a:r>
            <a:endParaRPr lang="en-US" sz="1800" dirty="0"/>
          </a:p>
        </p:txBody>
      </p:sp>
      <p:sp>
        <p:nvSpPr>
          <p:cNvPr id="6" name="Text 4"/>
          <p:cNvSpPr/>
          <p:nvPr/>
        </p:nvSpPr>
        <p:spPr>
          <a:xfrm>
            <a:off x="1143000" y="1657350"/>
            <a:ext cx="13735050"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THE THREAT SURFACE OUTGREW THE SECURITY INDUSTRY.</a:t>
            </a:r>
            <a:endParaRPr lang="en-US" sz="6300" dirty="0"/>
          </a:p>
        </p:txBody>
      </p:sp>
      <p:sp>
        <p:nvSpPr>
          <p:cNvPr id="7" name="Shape 5"/>
          <p:cNvSpPr/>
          <p:nvPr/>
        </p:nvSpPr>
        <p:spPr>
          <a:xfrm>
            <a:off x="1143000" y="4242048"/>
            <a:ext cx="5130775" cy="19050"/>
          </a:xfrm>
          <a:prstGeom prst="rect">
            <a:avLst/>
          </a:prstGeom>
          <a:solidFill>
            <a:srgbClr val="C8102E"/>
          </a:solidFill>
          <a:ln/>
        </p:spPr>
      </p:sp>
      <p:sp>
        <p:nvSpPr>
          <p:cNvPr id="8" name="Text 6"/>
          <p:cNvSpPr/>
          <p:nvPr/>
        </p:nvSpPr>
        <p:spPr>
          <a:xfrm>
            <a:off x="1143000" y="4603998"/>
            <a:ext cx="528469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01 — HARDWARE</a:t>
            </a:r>
            <a:endParaRPr lang="en-US" sz="1800" dirty="0"/>
          </a:p>
        </p:txBody>
      </p:sp>
      <p:sp>
        <p:nvSpPr>
          <p:cNvPr id="9" name="Text 7"/>
          <p:cNvSpPr/>
          <p:nvPr/>
        </p:nvSpPr>
        <p:spPr>
          <a:xfrm>
            <a:off x="1143000" y="5175498"/>
            <a:ext cx="5284698" cy="943273"/>
          </a:xfrm>
          <a:prstGeom prst="rect">
            <a:avLst/>
          </a:prstGeom>
          <a:noFill/>
          <a:ln/>
        </p:spPr>
        <p:txBody>
          <a:bodyPr wrap="square" lIns="25400" tIns="25400" rIns="25400" bIns="25400" rtlCol="0" anchor="t">
            <a:normAutofit/>
          </a:bodyPr>
          <a:lstStyle/>
          <a:p>
            <a:pPr algn="l" indent="0" marL="0">
              <a:lnSpc>
                <a:spcPct val="108000"/>
              </a:lnSpc>
              <a:buNone/>
            </a:pPr>
            <a:r>
              <a:rPr lang="en-US" sz="3300" spc="33" kern="0" dirty="0">
                <a:solidFill>
                  <a:srgbClr val="D4D4D8"/>
                </a:solidFill>
                <a:latin typeface="Arial" pitchFamily="34" charset="0"/>
                <a:ea typeface="Arial" pitchFamily="34" charset="-122"/>
                <a:cs typeface="Arial" pitchFamily="34" charset="-120"/>
              </a:rPr>
              <a:t>DRONES WENT OPERATIONAL.</a:t>
            </a:r>
            <a:endParaRPr lang="en-US" sz="3300" dirty="0"/>
          </a:p>
        </p:txBody>
      </p:sp>
      <p:sp>
        <p:nvSpPr>
          <p:cNvPr id="10" name="Text 8"/>
          <p:cNvSpPr/>
          <p:nvPr/>
        </p:nvSpPr>
        <p:spPr>
          <a:xfrm>
            <a:off x="1143000" y="6309271"/>
            <a:ext cx="5284698" cy="1744861"/>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9A9AA3"/>
                </a:solidFill>
                <a:latin typeface="Arial" pitchFamily="34" charset="0"/>
                <a:ea typeface="Arial" pitchFamily="34" charset="-122"/>
                <a:cs typeface="Arial" pitchFamily="34" charset="-120"/>
              </a:rPr>
              <a:t>Autonomous flight, 45-minute endurance, sub-kilogram payloads. The defining sensor of the decade is flying — and it's affordable.</a:t>
            </a:r>
            <a:endParaRPr lang="en-US" sz="2400" dirty="0"/>
          </a:p>
        </p:txBody>
      </p:sp>
      <p:sp>
        <p:nvSpPr>
          <p:cNvPr id="11" name="Shape 9"/>
          <p:cNvSpPr/>
          <p:nvPr/>
        </p:nvSpPr>
        <p:spPr>
          <a:xfrm>
            <a:off x="6578575" y="4242048"/>
            <a:ext cx="5130850" cy="19050"/>
          </a:xfrm>
          <a:prstGeom prst="rect">
            <a:avLst/>
          </a:prstGeom>
          <a:solidFill>
            <a:srgbClr val="C8102E"/>
          </a:solidFill>
          <a:ln/>
        </p:spPr>
      </p:sp>
      <p:sp>
        <p:nvSpPr>
          <p:cNvPr id="12" name="Text 10"/>
          <p:cNvSpPr/>
          <p:nvPr/>
        </p:nvSpPr>
        <p:spPr>
          <a:xfrm>
            <a:off x="6578575" y="4603998"/>
            <a:ext cx="528477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02 — THREAT</a:t>
            </a:r>
            <a:endParaRPr lang="en-US" sz="1800" dirty="0"/>
          </a:p>
        </p:txBody>
      </p:sp>
      <p:sp>
        <p:nvSpPr>
          <p:cNvPr id="13" name="Text 11"/>
          <p:cNvSpPr/>
          <p:nvPr/>
        </p:nvSpPr>
        <p:spPr>
          <a:xfrm>
            <a:off x="6578575" y="5175498"/>
            <a:ext cx="5284775" cy="943273"/>
          </a:xfrm>
          <a:prstGeom prst="rect">
            <a:avLst/>
          </a:prstGeom>
          <a:noFill/>
          <a:ln/>
        </p:spPr>
        <p:txBody>
          <a:bodyPr wrap="square" lIns="25400" tIns="25400" rIns="25400" bIns="25400" rtlCol="0" anchor="t">
            <a:normAutofit/>
          </a:bodyPr>
          <a:lstStyle/>
          <a:p>
            <a:pPr algn="l" indent="0" marL="0">
              <a:lnSpc>
                <a:spcPct val="108000"/>
              </a:lnSpc>
              <a:buNone/>
            </a:pPr>
            <a:r>
              <a:rPr lang="en-US" sz="3300" spc="33" kern="0" dirty="0">
                <a:solidFill>
                  <a:srgbClr val="D4D4D8"/>
                </a:solidFill>
                <a:latin typeface="Arial" pitchFamily="34" charset="0"/>
                <a:ea typeface="Arial" pitchFamily="34" charset="-122"/>
                <a:cs typeface="Arial" pitchFamily="34" charset="-120"/>
              </a:rPr>
              <a:t>INCIDENTS ARE COMPOUNDING.</a:t>
            </a:r>
            <a:endParaRPr lang="en-US" sz="3300" dirty="0"/>
          </a:p>
        </p:txBody>
      </p:sp>
      <p:sp>
        <p:nvSpPr>
          <p:cNvPr id="14" name="Text 12"/>
          <p:cNvSpPr/>
          <p:nvPr/>
        </p:nvSpPr>
        <p:spPr>
          <a:xfrm>
            <a:off x="6578575" y="6309271"/>
            <a:ext cx="5284775" cy="1744861"/>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9A9AA3"/>
                </a:solidFill>
                <a:latin typeface="Arial" pitchFamily="34" charset="0"/>
                <a:ea typeface="Arial" pitchFamily="34" charset="-122"/>
                <a:cs typeface="Arial" pitchFamily="34" charset="-120"/>
              </a:rPr>
              <a:t>Active-shooter events up 51% since 2019. Critical-infrastructure attacks up 340%. Unauthorized airspace incursions at U.S. airports up 11×.</a:t>
            </a:r>
            <a:endParaRPr lang="en-US" sz="2400" dirty="0"/>
          </a:p>
        </p:txBody>
      </p:sp>
      <p:sp>
        <p:nvSpPr>
          <p:cNvPr id="15" name="Shape 13"/>
          <p:cNvSpPr/>
          <p:nvPr/>
        </p:nvSpPr>
        <p:spPr>
          <a:xfrm>
            <a:off x="12014225" y="4242048"/>
            <a:ext cx="5130775" cy="19050"/>
          </a:xfrm>
          <a:prstGeom prst="rect">
            <a:avLst/>
          </a:prstGeom>
          <a:solidFill>
            <a:srgbClr val="C8102E"/>
          </a:solidFill>
          <a:ln/>
        </p:spPr>
      </p:sp>
      <p:sp>
        <p:nvSpPr>
          <p:cNvPr id="16" name="Text 14"/>
          <p:cNvSpPr/>
          <p:nvPr/>
        </p:nvSpPr>
        <p:spPr>
          <a:xfrm>
            <a:off x="12014225" y="4603998"/>
            <a:ext cx="528469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03 — REGULATORY</a:t>
            </a:r>
            <a:endParaRPr lang="en-US" sz="1800" dirty="0"/>
          </a:p>
        </p:txBody>
      </p:sp>
      <p:sp>
        <p:nvSpPr>
          <p:cNvPr id="17" name="Text 15"/>
          <p:cNvSpPr/>
          <p:nvPr/>
        </p:nvSpPr>
        <p:spPr>
          <a:xfrm>
            <a:off x="12014225" y="5175498"/>
            <a:ext cx="5284698" cy="943273"/>
          </a:xfrm>
          <a:prstGeom prst="rect">
            <a:avLst/>
          </a:prstGeom>
          <a:noFill/>
          <a:ln/>
        </p:spPr>
        <p:txBody>
          <a:bodyPr wrap="square" lIns="25400" tIns="25400" rIns="25400" bIns="25400" rtlCol="0" anchor="t">
            <a:normAutofit/>
          </a:bodyPr>
          <a:lstStyle/>
          <a:p>
            <a:pPr algn="l" indent="0" marL="0">
              <a:lnSpc>
                <a:spcPct val="108000"/>
              </a:lnSpc>
              <a:buNone/>
            </a:pPr>
            <a:r>
              <a:rPr lang="en-US" sz="3300" spc="33" kern="0" dirty="0">
                <a:solidFill>
                  <a:srgbClr val="D4D4D8"/>
                </a:solidFill>
                <a:latin typeface="Arial" pitchFamily="34" charset="0"/>
                <a:ea typeface="Arial" pitchFamily="34" charset="-122"/>
                <a:cs typeface="Arial" pitchFamily="34" charset="-120"/>
              </a:rPr>
              <a:t>THE RUNWAY FINALLY OPENED.</a:t>
            </a:r>
            <a:endParaRPr lang="en-US" sz="3300" dirty="0"/>
          </a:p>
        </p:txBody>
      </p:sp>
      <p:sp>
        <p:nvSpPr>
          <p:cNvPr id="18" name="Text 16"/>
          <p:cNvSpPr/>
          <p:nvPr/>
        </p:nvSpPr>
        <p:spPr>
          <a:xfrm>
            <a:off x="12014225" y="6309271"/>
            <a:ext cx="5284698" cy="1744861"/>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9A9AA3"/>
                </a:solidFill>
                <a:latin typeface="Arial" pitchFamily="34" charset="0"/>
                <a:ea typeface="Arial" pitchFamily="34" charset="-122"/>
                <a:cs typeface="Arial" pitchFamily="34" charset="-120"/>
              </a:rPr>
              <a:t>FAA Part 108 plus expanded BVLOS waivers. Commercial operators can now fly response missions at scale. For the first time.</a:t>
            </a:r>
            <a:endParaRPr lang="en-US" sz="2400" dirty="0"/>
          </a:p>
        </p:txBody>
      </p:sp>
      <p:sp>
        <p:nvSpPr>
          <p:cNvPr id="19" name="Shape 17"/>
          <p:cNvSpPr/>
          <p:nvPr/>
        </p:nvSpPr>
        <p:spPr>
          <a:xfrm>
            <a:off x="1143000" y="9047783"/>
            <a:ext cx="342900" cy="342900"/>
          </a:xfrm>
          <a:prstGeom prst="rect">
            <a:avLst/>
          </a:prstGeom>
          <a:solidFill>
            <a:srgbClr val="C8102E"/>
          </a:solidFill>
          <a:ln/>
        </p:spPr>
      </p:sp>
      <p:sp>
        <p:nvSpPr>
          <p:cNvPr id="20" name="Text 18"/>
          <p:cNvSpPr/>
          <p:nvPr/>
        </p:nvSpPr>
        <p:spPr>
          <a:xfrm>
            <a:off x="1752600" y="9008790"/>
            <a:ext cx="11311335" cy="459060"/>
          </a:xfrm>
          <a:prstGeom prst="rect">
            <a:avLst/>
          </a:prstGeom>
          <a:noFill/>
          <a:ln/>
        </p:spPr>
        <p:txBody>
          <a:bodyPr wrap="square" lIns="25400" tIns="25400" rIns="25400" bIns="25400" rtlCol="0" anchor="t">
            <a:normAutofit/>
          </a:bodyPr>
          <a:lstStyle/>
          <a:p>
            <a:pPr algn="l" indent="0" marL="0">
              <a:lnSpc>
                <a:spcPct val="130000"/>
              </a:lnSpc>
              <a:buNone/>
            </a:pPr>
            <a:r>
              <a:rPr lang="en-US" sz="2550" spc="-13" kern="0" dirty="0">
                <a:solidFill>
                  <a:srgbClr val="D4D4D8"/>
                </a:solidFill>
                <a:latin typeface="Arial" pitchFamily="34" charset="0"/>
                <a:ea typeface="Arial" pitchFamily="34" charset="-122"/>
                <a:cs typeface="Arial" pitchFamily="34" charset="-120"/>
              </a:rPr>
              <a:t>The tools are ready. The rules allow it. The demand is here. </a:t>
            </a:r>
            <a:pPr algn="l" indent="0" marL="0">
              <a:lnSpc>
                <a:spcPct val="130000"/>
              </a:lnSpc>
              <a:buNone/>
            </a:pPr>
            <a:r>
              <a:rPr lang="en-US" sz="2550" spc="-13" kern="0" dirty="0">
                <a:solidFill>
                  <a:srgbClr val="C8102E"/>
                </a:solidFill>
                <a:latin typeface="Arial" pitchFamily="34" charset="0"/>
                <a:ea typeface="Arial" pitchFamily="34" charset="-122"/>
                <a:cs typeface="Arial" pitchFamily="34" charset="-120"/>
              </a:rPr>
              <a:t>The window is now.</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343534" y="419100"/>
            <a:ext cx="288551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03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THE PROBLEM</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THE PROBLEM</a:t>
            </a:r>
            <a:endParaRPr lang="en-US" sz="1800" dirty="0"/>
          </a:p>
        </p:txBody>
      </p:sp>
      <p:sp>
        <p:nvSpPr>
          <p:cNvPr id="6" name="Text 4"/>
          <p:cNvSpPr/>
          <p:nvPr/>
        </p:nvSpPr>
        <p:spPr>
          <a:xfrm>
            <a:off x="1143000" y="1657350"/>
            <a:ext cx="14716125"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SECURITY IS SOLD IN BROKEN PIECES.</a:t>
            </a:r>
            <a:endParaRPr lang="en-US" sz="6300" dirty="0"/>
          </a:p>
        </p:txBody>
      </p:sp>
      <p:sp>
        <p:nvSpPr>
          <p:cNvPr id="7" name="Text 5"/>
          <p:cNvSpPr/>
          <p:nvPr/>
        </p:nvSpPr>
        <p:spPr>
          <a:xfrm>
            <a:off x="1143000" y="4051548"/>
            <a:ext cx="83045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B6B73"/>
                </a:solidFill>
                <a:latin typeface="Courier New" pitchFamily="34" charset="0"/>
                <a:ea typeface="Courier New" pitchFamily="34" charset="-122"/>
                <a:cs typeface="Courier New" pitchFamily="34" charset="-120"/>
              </a:rPr>
              <a:t>A TYPICAL ENTERPRISE CAMPUS · TODAY</a:t>
            </a:r>
            <a:endParaRPr lang="en-US" sz="1800" dirty="0"/>
          </a:p>
        </p:txBody>
      </p:sp>
      <p:sp>
        <p:nvSpPr>
          <p:cNvPr id="8" name="Shape 6"/>
          <p:cNvSpPr/>
          <p:nvPr/>
        </p:nvSpPr>
        <p:spPr>
          <a:xfrm>
            <a:off x="1143000" y="4661148"/>
            <a:ext cx="2598613" cy="1028700"/>
          </a:xfrm>
          <a:prstGeom prst="rect">
            <a:avLst/>
          </a:prstGeom>
          <a:solidFill>
            <a:srgbClr val="141416"/>
          </a:solidFill>
          <a:ln w="9525">
            <a:solidFill>
              <a:srgbClr val="2A2A2F"/>
            </a:solidFill>
            <a:prstDash val="solid"/>
          </a:ln>
        </p:spPr>
      </p:sp>
      <p:sp>
        <p:nvSpPr>
          <p:cNvPr id="9" name="Text 7"/>
          <p:cNvSpPr/>
          <p:nvPr/>
        </p:nvSpPr>
        <p:spPr>
          <a:xfrm>
            <a:off x="1381125" y="4861173"/>
            <a:ext cx="219856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01</a:t>
            </a:r>
            <a:endParaRPr lang="en-US" sz="1200" dirty="0"/>
          </a:p>
        </p:txBody>
      </p:sp>
      <p:sp>
        <p:nvSpPr>
          <p:cNvPr id="10" name="Text 8"/>
          <p:cNvSpPr/>
          <p:nvPr/>
        </p:nvSpPr>
        <p:spPr>
          <a:xfrm>
            <a:off x="1381125" y="5146923"/>
            <a:ext cx="219856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GUARDS</a:t>
            </a:r>
            <a:endParaRPr lang="en-US" sz="1800" dirty="0"/>
          </a:p>
        </p:txBody>
      </p:sp>
      <p:sp>
        <p:nvSpPr>
          <p:cNvPr id="11" name="Shape 9"/>
          <p:cNvSpPr/>
          <p:nvPr/>
        </p:nvSpPr>
        <p:spPr>
          <a:xfrm>
            <a:off x="3874963" y="4661148"/>
            <a:ext cx="2598688" cy="1028700"/>
          </a:xfrm>
          <a:prstGeom prst="rect">
            <a:avLst/>
          </a:prstGeom>
          <a:solidFill>
            <a:srgbClr val="141416"/>
          </a:solidFill>
          <a:ln w="9525">
            <a:solidFill>
              <a:srgbClr val="2A2A2F"/>
            </a:solidFill>
            <a:prstDash val="solid"/>
          </a:ln>
        </p:spPr>
      </p:sp>
      <p:sp>
        <p:nvSpPr>
          <p:cNvPr id="12" name="Text 10"/>
          <p:cNvSpPr/>
          <p:nvPr/>
        </p:nvSpPr>
        <p:spPr>
          <a:xfrm>
            <a:off x="4113088" y="4861173"/>
            <a:ext cx="219863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02</a:t>
            </a:r>
            <a:endParaRPr lang="en-US" sz="1200" dirty="0"/>
          </a:p>
        </p:txBody>
      </p:sp>
      <p:sp>
        <p:nvSpPr>
          <p:cNvPr id="13" name="Text 11"/>
          <p:cNvSpPr/>
          <p:nvPr/>
        </p:nvSpPr>
        <p:spPr>
          <a:xfrm>
            <a:off x="4113088" y="5146923"/>
            <a:ext cx="219863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CAMERAS</a:t>
            </a:r>
            <a:endParaRPr lang="en-US" sz="1800" dirty="0"/>
          </a:p>
        </p:txBody>
      </p:sp>
      <p:sp>
        <p:nvSpPr>
          <p:cNvPr id="14" name="Shape 12"/>
          <p:cNvSpPr/>
          <p:nvPr/>
        </p:nvSpPr>
        <p:spPr>
          <a:xfrm>
            <a:off x="6607001" y="4661148"/>
            <a:ext cx="2598688" cy="1028700"/>
          </a:xfrm>
          <a:prstGeom prst="rect">
            <a:avLst/>
          </a:prstGeom>
          <a:solidFill>
            <a:srgbClr val="141416"/>
          </a:solidFill>
          <a:ln w="9525">
            <a:solidFill>
              <a:srgbClr val="2A2A2F"/>
            </a:solidFill>
            <a:prstDash val="solid"/>
          </a:ln>
        </p:spPr>
      </p:sp>
      <p:sp>
        <p:nvSpPr>
          <p:cNvPr id="15" name="Text 13"/>
          <p:cNvSpPr/>
          <p:nvPr/>
        </p:nvSpPr>
        <p:spPr>
          <a:xfrm>
            <a:off x="6845126" y="4861173"/>
            <a:ext cx="219863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03</a:t>
            </a:r>
            <a:endParaRPr lang="en-US" sz="1200" dirty="0"/>
          </a:p>
        </p:txBody>
      </p:sp>
      <p:sp>
        <p:nvSpPr>
          <p:cNvPr id="16" name="Text 14"/>
          <p:cNvSpPr/>
          <p:nvPr/>
        </p:nvSpPr>
        <p:spPr>
          <a:xfrm>
            <a:off x="6845126" y="5146923"/>
            <a:ext cx="219863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ACCESS</a:t>
            </a:r>
            <a:endParaRPr lang="en-US" sz="1800" dirty="0"/>
          </a:p>
        </p:txBody>
      </p:sp>
      <p:sp>
        <p:nvSpPr>
          <p:cNvPr id="17" name="Shape 15"/>
          <p:cNvSpPr/>
          <p:nvPr/>
        </p:nvSpPr>
        <p:spPr>
          <a:xfrm>
            <a:off x="1143000" y="5823198"/>
            <a:ext cx="2598613" cy="1028700"/>
          </a:xfrm>
          <a:prstGeom prst="rect">
            <a:avLst/>
          </a:prstGeom>
          <a:solidFill>
            <a:srgbClr val="141416"/>
          </a:solidFill>
          <a:ln w="9525">
            <a:solidFill>
              <a:srgbClr val="2A2A2F"/>
            </a:solidFill>
            <a:prstDash val="solid"/>
          </a:ln>
        </p:spPr>
      </p:sp>
      <p:sp>
        <p:nvSpPr>
          <p:cNvPr id="18" name="Text 16"/>
          <p:cNvSpPr/>
          <p:nvPr/>
        </p:nvSpPr>
        <p:spPr>
          <a:xfrm>
            <a:off x="1381125" y="6023223"/>
            <a:ext cx="219856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04</a:t>
            </a:r>
            <a:endParaRPr lang="en-US" sz="1200" dirty="0"/>
          </a:p>
        </p:txBody>
      </p:sp>
      <p:sp>
        <p:nvSpPr>
          <p:cNvPr id="19" name="Text 17"/>
          <p:cNvSpPr/>
          <p:nvPr/>
        </p:nvSpPr>
        <p:spPr>
          <a:xfrm>
            <a:off x="1381125" y="6308973"/>
            <a:ext cx="219856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MONITORING</a:t>
            </a:r>
            <a:endParaRPr lang="en-US" sz="1800" dirty="0"/>
          </a:p>
        </p:txBody>
      </p:sp>
      <p:sp>
        <p:nvSpPr>
          <p:cNvPr id="20" name="Shape 18"/>
          <p:cNvSpPr/>
          <p:nvPr/>
        </p:nvSpPr>
        <p:spPr>
          <a:xfrm>
            <a:off x="3874963" y="5823198"/>
            <a:ext cx="2598688" cy="1028700"/>
          </a:xfrm>
          <a:prstGeom prst="rect">
            <a:avLst/>
          </a:prstGeom>
          <a:solidFill>
            <a:srgbClr val="141416"/>
          </a:solidFill>
          <a:ln w="9525">
            <a:solidFill>
              <a:srgbClr val="2A2A2F"/>
            </a:solidFill>
            <a:prstDash val="solid"/>
          </a:ln>
        </p:spPr>
      </p:sp>
      <p:sp>
        <p:nvSpPr>
          <p:cNvPr id="21" name="Text 19"/>
          <p:cNvSpPr/>
          <p:nvPr/>
        </p:nvSpPr>
        <p:spPr>
          <a:xfrm>
            <a:off x="4113088" y="6023223"/>
            <a:ext cx="219863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05</a:t>
            </a:r>
            <a:endParaRPr lang="en-US" sz="1200" dirty="0"/>
          </a:p>
        </p:txBody>
      </p:sp>
      <p:sp>
        <p:nvSpPr>
          <p:cNvPr id="22" name="Text 20"/>
          <p:cNvSpPr/>
          <p:nvPr/>
        </p:nvSpPr>
        <p:spPr>
          <a:xfrm>
            <a:off x="4113088" y="6308973"/>
            <a:ext cx="219863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ALARMS</a:t>
            </a:r>
            <a:endParaRPr lang="en-US" sz="1800" dirty="0"/>
          </a:p>
        </p:txBody>
      </p:sp>
      <p:sp>
        <p:nvSpPr>
          <p:cNvPr id="23" name="Shape 21"/>
          <p:cNvSpPr/>
          <p:nvPr/>
        </p:nvSpPr>
        <p:spPr>
          <a:xfrm>
            <a:off x="6607001" y="5823198"/>
            <a:ext cx="2598688" cy="1028700"/>
          </a:xfrm>
          <a:prstGeom prst="rect">
            <a:avLst/>
          </a:prstGeom>
          <a:solidFill>
            <a:srgbClr val="141416"/>
          </a:solidFill>
          <a:ln w="9525">
            <a:solidFill>
              <a:srgbClr val="2A2A2F"/>
            </a:solidFill>
            <a:prstDash val="solid"/>
          </a:ln>
        </p:spPr>
      </p:sp>
      <p:sp>
        <p:nvSpPr>
          <p:cNvPr id="24" name="Text 22"/>
          <p:cNvSpPr/>
          <p:nvPr/>
        </p:nvSpPr>
        <p:spPr>
          <a:xfrm>
            <a:off x="6845126" y="6023223"/>
            <a:ext cx="219863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06</a:t>
            </a:r>
            <a:endParaRPr lang="en-US" sz="1200" dirty="0"/>
          </a:p>
        </p:txBody>
      </p:sp>
      <p:sp>
        <p:nvSpPr>
          <p:cNvPr id="25" name="Text 23"/>
          <p:cNvSpPr/>
          <p:nvPr/>
        </p:nvSpPr>
        <p:spPr>
          <a:xfrm>
            <a:off x="6845126" y="6308973"/>
            <a:ext cx="219863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DRONES</a:t>
            </a:r>
            <a:endParaRPr lang="en-US" sz="1800" dirty="0"/>
          </a:p>
        </p:txBody>
      </p:sp>
      <p:sp>
        <p:nvSpPr>
          <p:cNvPr id="26" name="Shape 24"/>
          <p:cNvSpPr/>
          <p:nvPr/>
        </p:nvSpPr>
        <p:spPr>
          <a:xfrm>
            <a:off x="1143000" y="6985248"/>
            <a:ext cx="2598613" cy="1371600"/>
          </a:xfrm>
          <a:prstGeom prst="rect">
            <a:avLst/>
          </a:prstGeom>
          <a:solidFill>
            <a:srgbClr val="141416"/>
          </a:solidFill>
          <a:ln w="9525">
            <a:solidFill>
              <a:srgbClr val="2A2A2F"/>
            </a:solidFill>
            <a:prstDash val="solid"/>
          </a:ln>
        </p:spPr>
      </p:sp>
      <p:sp>
        <p:nvSpPr>
          <p:cNvPr id="27" name="Text 25"/>
          <p:cNvSpPr/>
          <p:nvPr/>
        </p:nvSpPr>
        <p:spPr>
          <a:xfrm>
            <a:off x="1381125" y="7185273"/>
            <a:ext cx="219856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07</a:t>
            </a:r>
            <a:endParaRPr lang="en-US" sz="1200" dirty="0"/>
          </a:p>
        </p:txBody>
      </p:sp>
      <p:sp>
        <p:nvSpPr>
          <p:cNvPr id="28" name="Text 26"/>
          <p:cNvSpPr/>
          <p:nvPr/>
        </p:nvSpPr>
        <p:spPr>
          <a:xfrm>
            <a:off x="1381125" y="7471023"/>
            <a:ext cx="2198563"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EXEC PROTECTION</a:t>
            </a:r>
            <a:endParaRPr lang="en-US" sz="1800" dirty="0"/>
          </a:p>
        </p:txBody>
      </p:sp>
      <p:sp>
        <p:nvSpPr>
          <p:cNvPr id="29" name="Shape 27"/>
          <p:cNvSpPr/>
          <p:nvPr/>
        </p:nvSpPr>
        <p:spPr>
          <a:xfrm>
            <a:off x="3874963" y="6985248"/>
            <a:ext cx="2598688" cy="1371600"/>
          </a:xfrm>
          <a:prstGeom prst="rect">
            <a:avLst/>
          </a:prstGeom>
          <a:solidFill>
            <a:srgbClr val="141416"/>
          </a:solidFill>
          <a:ln w="9525">
            <a:solidFill>
              <a:srgbClr val="2A2A2F"/>
            </a:solidFill>
            <a:prstDash val="solid"/>
          </a:ln>
        </p:spPr>
      </p:sp>
      <p:sp>
        <p:nvSpPr>
          <p:cNvPr id="30" name="Text 28"/>
          <p:cNvSpPr/>
          <p:nvPr/>
        </p:nvSpPr>
        <p:spPr>
          <a:xfrm>
            <a:off x="4113088" y="7185273"/>
            <a:ext cx="219863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VENDOR 08</a:t>
            </a:r>
            <a:endParaRPr lang="en-US" sz="1200" dirty="0"/>
          </a:p>
        </p:txBody>
      </p:sp>
      <p:sp>
        <p:nvSpPr>
          <p:cNvPr id="31" name="Text 29"/>
          <p:cNvSpPr/>
          <p:nvPr/>
        </p:nvSpPr>
        <p:spPr>
          <a:xfrm>
            <a:off x="4113088" y="7471023"/>
            <a:ext cx="219863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FFFFFF"/>
                </a:solidFill>
                <a:latin typeface="Arial" pitchFamily="34" charset="0"/>
                <a:ea typeface="Arial" pitchFamily="34" charset="-122"/>
                <a:cs typeface="Arial" pitchFamily="34" charset="-120"/>
              </a:rPr>
              <a:t>CYBERSEC</a:t>
            </a:r>
            <a:endParaRPr lang="en-US" sz="1800" dirty="0"/>
          </a:p>
        </p:txBody>
      </p:sp>
      <p:sp>
        <p:nvSpPr>
          <p:cNvPr id="32" name="Shape 30"/>
          <p:cNvSpPr/>
          <p:nvPr/>
        </p:nvSpPr>
        <p:spPr>
          <a:xfrm>
            <a:off x="6607001" y="6985248"/>
            <a:ext cx="2598688" cy="1371600"/>
          </a:xfrm>
          <a:prstGeom prst="rect">
            <a:avLst/>
          </a:prstGeom>
          <a:solidFill>
            <a:srgbClr val="C8102E">
              <a:alpha val="8000"/>
            </a:srgbClr>
          </a:solidFill>
          <a:ln w="9525">
            <a:solidFill>
              <a:srgbClr val="C8102E"/>
            </a:solidFill>
            <a:prstDash val="solid"/>
          </a:ln>
        </p:spPr>
      </p:sp>
      <p:sp>
        <p:nvSpPr>
          <p:cNvPr id="33" name="Text 31"/>
          <p:cNvSpPr/>
          <p:nvPr/>
        </p:nvSpPr>
        <p:spPr>
          <a:xfrm>
            <a:off x="6845126" y="7185273"/>
            <a:ext cx="219863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102E"/>
                </a:solidFill>
                <a:latin typeface="Courier New" pitchFamily="34" charset="0"/>
                <a:ea typeface="Courier New" pitchFamily="34" charset="-122"/>
                <a:cs typeface="Courier New" pitchFamily="34" charset="-120"/>
              </a:rPr>
              <a:t>NO INTEGRATION</a:t>
            </a:r>
            <a:endParaRPr lang="en-US" sz="1200" dirty="0"/>
          </a:p>
        </p:txBody>
      </p:sp>
      <p:sp>
        <p:nvSpPr>
          <p:cNvPr id="34" name="Text 32"/>
          <p:cNvSpPr/>
          <p:nvPr/>
        </p:nvSpPr>
        <p:spPr>
          <a:xfrm>
            <a:off x="6845126" y="7471023"/>
            <a:ext cx="219863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108" kern="0" dirty="0">
                <a:solidFill>
                  <a:srgbClr val="C8102E"/>
                </a:solidFill>
                <a:latin typeface="Arial" pitchFamily="34" charset="0"/>
                <a:ea typeface="Arial" pitchFamily="34" charset="-122"/>
                <a:cs typeface="Arial" pitchFamily="34" charset="-120"/>
              </a:rPr>
              <a:t>SILOS</a:t>
            </a:r>
            <a:endParaRPr lang="en-US" sz="1800" dirty="0"/>
          </a:p>
        </p:txBody>
      </p:sp>
      <p:sp>
        <p:nvSpPr>
          <p:cNvPr id="35" name="Text 33"/>
          <p:cNvSpPr/>
          <p:nvPr/>
        </p:nvSpPr>
        <p:spPr>
          <a:xfrm>
            <a:off x="1143000" y="8642598"/>
            <a:ext cx="8304570"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6B6B73"/>
                </a:solidFill>
                <a:latin typeface="Courier New" pitchFamily="34" charset="0"/>
                <a:ea typeface="Courier New" pitchFamily="34" charset="-122"/>
                <a:cs typeface="Courier New" pitchFamily="34" charset="-120"/>
              </a:rPr>
              <a:t>8 CONTRACTS · 8 INVOICES · 8 DATA MODELS · 0 SHARED CONTEXT</a:t>
            </a:r>
            <a:endParaRPr lang="en-US" sz="1350" dirty="0"/>
          </a:p>
        </p:txBody>
      </p:sp>
      <p:sp>
        <p:nvSpPr>
          <p:cNvPr id="36" name="Text 34"/>
          <p:cNvSpPr/>
          <p:nvPr/>
        </p:nvSpPr>
        <p:spPr>
          <a:xfrm>
            <a:off x="9815289" y="4051548"/>
            <a:ext cx="7549602" cy="964257"/>
          </a:xfrm>
          <a:prstGeom prst="rect">
            <a:avLst/>
          </a:prstGeom>
          <a:noFill/>
          <a:ln/>
        </p:spPr>
        <p:txBody>
          <a:bodyPr wrap="square" lIns="25400" tIns="25400" rIns="25400" bIns="25400" rtlCol="0" anchor="t">
            <a:normAutofit/>
          </a:bodyPr>
          <a:lstStyle/>
          <a:p>
            <a:pPr algn="l" indent="0" marL="0">
              <a:lnSpc>
                <a:spcPct val="88000"/>
              </a:lnSpc>
              <a:buNone/>
            </a:pPr>
            <a:r>
              <a:rPr lang="en-US" sz="8250" b="1" spc="-165" kern="0" dirty="0">
                <a:solidFill>
                  <a:srgbClr val="C8102E"/>
                </a:solidFill>
                <a:latin typeface="Arial" pitchFamily="34" charset="0"/>
                <a:ea typeface="Arial" pitchFamily="34" charset="-122"/>
                <a:cs typeface="Arial" pitchFamily="34" charset="-120"/>
              </a:rPr>
              <a:t>47 </a:t>
            </a:r>
            <a:pPr algn="l" indent="0" marL="0">
              <a:lnSpc>
                <a:spcPct val="88000"/>
              </a:lnSpc>
              <a:buNone/>
            </a:pPr>
            <a:r>
              <a:rPr lang="en-US" sz="3600" b="1" spc="-165" kern="0" dirty="0">
                <a:solidFill>
                  <a:srgbClr val="9A9AA3"/>
                </a:solidFill>
                <a:latin typeface="Arial" pitchFamily="34" charset="0"/>
                <a:ea typeface="Arial" pitchFamily="34" charset="-122"/>
                <a:cs typeface="Arial" pitchFamily="34" charset="-120"/>
              </a:rPr>
              <a:t>min</a:t>
            </a:r>
            <a:endParaRPr lang="en-US" sz="8250" dirty="0"/>
          </a:p>
        </p:txBody>
      </p:sp>
      <p:sp>
        <p:nvSpPr>
          <p:cNvPr id="37" name="Text 35"/>
          <p:cNvSpPr/>
          <p:nvPr/>
        </p:nvSpPr>
        <p:spPr>
          <a:xfrm>
            <a:off x="9815289" y="5111055"/>
            <a:ext cx="7549602"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Median time from incident to a coordinated, multi-asset response.</a:t>
            </a:r>
            <a:endParaRPr lang="en-US" sz="1950" dirty="0"/>
          </a:p>
        </p:txBody>
      </p:sp>
      <p:sp>
        <p:nvSpPr>
          <p:cNvPr id="38" name="Text 36"/>
          <p:cNvSpPr/>
          <p:nvPr/>
        </p:nvSpPr>
        <p:spPr>
          <a:xfrm>
            <a:off x="9815289" y="5851103"/>
            <a:ext cx="7549602" cy="964257"/>
          </a:xfrm>
          <a:prstGeom prst="rect">
            <a:avLst/>
          </a:prstGeom>
          <a:noFill/>
          <a:ln/>
        </p:spPr>
        <p:txBody>
          <a:bodyPr wrap="square" lIns="25400" tIns="25400" rIns="25400" bIns="25400" rtlCol="0" anchor="t">
            <a:normAutofit/>
          </a:bodyPr>
          <a:lstStyle/>
          <a:p>
            <a:pPr algn="l" indent="0" marL="0">
              <a:lnSpc>
                <a:spcPct val="88000"/>
              </a:lnSpc>
              <a:buNone/>
            </a:pPr>
            <a:r>
              <a:rPr lang="en-US" sz="8250" b="1" spc="-165" kern="0" dirty="0">
                <a:solidFill>
                  <a:srgbClr val="FFFFFF"/>
                </a:solidFill>
                <a:latin typeface="Arial" pitchFamily="34" charset="0"/>
                <a:ea typeface="Arial" pitchFamily="34" charset="-122"/>
                <a:cs typeface="Arial" pitchFamily="34" charset="-120"/>
              </a:rPr>
              <a:t>8 </a:t>
            </a:r>
            <a:pPr algn="l" indent="0" marL="0">
              <a:lnSpc>
                <a:spcPct val="88000"/>
              </a:lnSpc>
              <a:buNone/>
            </a:pPr>
            <a:r>
              <a:rPr lang="en-US" sz="3600" b="1" spc="-165" kern="0" dirty="0">
                <a:solidFill>
                  <a:srgbClr val="9A9AA3"/>
                </a:solidFill>
                <a:latin typeface="Arial" pitchFamily="34" charset="0"/>
                <a:ea typeface="Arial" pitchFamily="34" charset="-122"/>
                <a:cs typeface="Arial" pitchFamily="34" charset="-120"/>
              </a:rPr>
              <a:t>×</a:t>
            </a:r>
            <a:endParaRPr lang="en-US" sz="8250" dirty="0"/>
          </a:p>
        </p:txBody>
      </p:sp>
      <p:sp>
        <p:nvSpPr>
          <p:cNvPr id="39" name="Text 37"/>
          <p:cNvSpPr/>
          <p:nvPr/>
        </p:nvSpPr>
        <p:spPr>
          <a:xfrm>
            <a:off x="9815289" y="6910611"/>
            <a:ext cx="7549602"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Average number of disconnected security vendors on a Fortune 500 campus.</a:t>
            </a:r>
            <a:endParaRPr lang="en-US" sz="1950" dirty="0"/>
          </a:p>
        </p:txBody>
      </p:sp>
      <p:sp>
        <p:nvSpPr>
          <p:cNvPr id="40" name="Text 38"/>
          <p:cNvSpPr/>
          <p:nvPr/>
        </p:nvSpPr>
        <p:spPr>
          <a:xfrm>
            <a:off x="9815289" y="8009706"/>
            <a:ext cx="7549602" cy="1043880"/>
          </a:xfrm>
          <a:prstGeom prst="rect">
            <a:avLst/>
          </a:prstGeom>
          <a:noFill/>
          <a:ln/>
        </p:spPr>
        <p:txBody>
          <a:bodyPr wrap="square" lIns="25400" tIns="25400" rIns="25400" bIns="25400" rtlCol="0" anchor="t">
            <a:normAutofit/>
          </a:bodyPr>
          <a:lstStyle/>
          <a:p>
            <a:pPr algn="l" indent="0" marL="0">
              <a:lnSpc>
                <a:spcPct val="88000"/>
              </a:lnSpc>
              <a:buNone/>
            </a:pPr>
            <a:r>
              <a:rPr lang="en-US" sz="9000" b="1" spc="-180" kern="0" dirty="0">
                <a:solidFill>
                  <a:srgbClr val="FFFFFF"/>
                </a:solidFill>
                <a:latin typeface="Arial" pitchFamily="34" charset="0"/>
                <a:ea typeface="Arial" pitchFamily="34" charset="-122"/>
                <a:cs typeface="Arial" pitchFamily="34" charset="-120"/>
              </a:rPr>
              <a:t>$0</a:t>
            </a:r>
            <a:endParaRPr lang="en-US" sz="9000" dirty="0"/>
          </a:p>
        </p:txBody>
      </p:sp>
      <p:sp>
        <p:nvSpPr>
          <p:cNvPr id="41" name="Text 39"/>
          <p:cNvSpPr/>
          <p:nvPr/>
        </p:nvSpPr>
        <p:spPr>
          <a:xfrm>
            <a:off x="9815289" y="9110737"/>
            <a:ext cx="7549602"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Integrated platforms on the market that own both the software layer and the operators.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5042282" y="419100"/>
            <a:ext cx="217891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04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MARKET</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THE OPPORTUNITY</a:t>
            </a:r>
            <a:endParaRPr lang="en-US" sz="1800" dirty="0"/>
          </a:p>
        </p:txBody>
      </p:sp>
      <p:sp>
        <p:nvSpPr>
          <p:cNvPr id="6" name="Text 4"/>
          <p:cNvSpPr/>
          <p:nvPr/>
        </p:nvSpPr>
        <p:spPr>
          <a:xfrm>
            <a:off x="1143000" y="1657350"/>
            <a:ext cx="16482060"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A $68B MARKET, UNDER-DEFENDED.</a:t>
            </a:r>
            <a:endParaRPr lang="en-US" sz="6300" dirty="0"/>
          </a:p>
        </p:txBody>
      </p:sp>
      <p:sp>
        <p:nvSpPr>
          <p:cNvPr id="7" name="Shape 5"/>
          <p:cNvSpPr/>
          <p:nvPr/>
        </p:nvSpPr>
        <p:spPr>
          <a:xfrm>
            <a:off x="1143000" y="4051548"/>
            <a:ext cx="5079950" cy="4442296"/>
          </a:xfrm>
          <a:prstGeom prst="rect">
            <a:avLst/>
          </a:prstGeom>
          <a:solidFill>
            <a:srgbClr val="141416"/>
          </a:solidFill>
          <a:ln w="9525">
            <a:solidFill>
              <a:srgbClr val="2A2A2F"/>
            </a:solidFill>
            <a:prstDash val="solid"/>
          </a:ln>
        </p:spPr>
      </p:sp>
      <p:sp>
        <p:nvSpPr>
          <p:cNvPr id="8" name="Text 6"/>
          <p:cNvSpPr/>
          <p:nvPr/>
        </p:nvSpPr>
        <p:spPr>
          <a:xfrm>
            <a:off x="1609725" y="4518273"/>
            <a:ext cx="427089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TAM · TOTAL MARKET</a:t>
            </a:r>
            <a:endParaRPr lang="en-US" sz="1800" dirty="0"/>
          </a:p>
        </p:txBody>
      </p:sp>
      <p:sp>
        <p:nvSpPr>
          <p:cNvPr id="9" name="Text 7"/>
          <p:cNvSpPr/>
          <p:nvPr/>
        </p:nvSpPr>
        <p:spPr>
          <a:xfrm>
            <a:off x="1609725" y="5051673"/>
            <a:ext cx="4270895" cy="1307753"/>
          </a:xfrm>
          <a:prstGeom prst="rect">
            <a:avLst/>
          </a:prstGeom>
          <a:noFill/>
          <a:ln/>
        </p:spPr>
        <p:txBody>
          <a:bodyPr wrap="square" lIns="25400" tIns="25400" rIns="25400" bIns="25400" rtlCol="0" anchor="t">
            <a:normAutofit/>
          </a:bodyPr>
          <a:lstStyle/>
          <a:p>
            <a:pPr algn="l" indent="0" marL="0">
              <a:lnSpc>
                <a:spcPct val="88000"/>
              </a:lnSpc>
              <a:buNone/>
            </a:pPr>
            <a:r>
              <a:rPr lang="en-US" sz="11250" b="1" spc="-225" kern="0" dirty="0">
                <a:solidFill>
                  <a:srgbClr val="FFFFFF"/>
                </a:solidFill>
                <a:latin typeface="Arial" pitchFamily="34" charset="0"/>
                <a:ea typeface="Arial" pitchFamily="34" charset="-122"/>
                <a:cs typeface="Arial" pitchFamily="34" charset="-120"/>
              </a:rPr>
              <a:t>$68</a:t>
            </a:r>
            <a:pPr algn="l" indent="0" marL="0">
              <a:lnSpc>
                <a:spcPct val="88000"/>
              </a:lnSpc>
              <a:buNone/>
            </a:pPr>
            <a:r>
              <a:rPr lang="en-US" sz="4500" b="1" spc="-225" kern="0" dirty="0">
                <a:solidFill>
                  <a:srgbClr val="9A9AA3"/>
                </a:solidFill>
                <a:latin typeface="Arial" pitchFamily="34" charset="0"/>
                <a:ea typeface="Arial" pitchFamily="34" charset="-122"/>
                <a:cs typeface="Arial" pitchFamily="34" charset="-120"/>
              </a:rPr>
              <a:t>B</a:t>
            </a:r>
            <a:endParaRPr lang="en-US" sz="11250" dirty="0"/>
          </a:p>
        </p:txBody>
      </p:sp>
      <p:sp>
        <p:nvSpPr>
          <p:cNvPr id="10" name="Shape 8"/>
          <p:cNvSpPr/>
          <p:nvPr/>
        </p:nvSpPr>
        <p:spPr>
          <a:xfrm>
            <a:off x="1609725" y="6626126"/>
            <a:ext cx="4146500" cy="9525"/>
          </a:xfrm>
          <a:prstGeom prst="rect">
            <a:avLst/>
          </a:prstGeom>
          <a:solidFill>
            <a:srgbClr val="FFFFFF">
              <a:alpha val="12000"/>
            </a:srgbClr>
          </a:solidFill>
          <a:ln/>
        </p:spPr>
      </p:sp>
      <p:sp>
        <p:nvSpPr>
          <p:cNvPr id="11" name="Text 9"/>
          <p:cNvSpPr/>
          <p:nvPr/>
        </p:nvSpPr>
        <p:spPr>
          <a:xfrm>
            <a:off x="1609725" y="6940451"/>
            <a:ext cx="4270895"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U.S. private security ($50B) · commercial drone services ($12B) · physical security AI ($6B).</a:t>
            </a:r>
            <a:endParaRPr lang="en-US" sz="1950" dirty="0"/>
          </a:p>
        </p:txBody>
      </p:sp>
      <p:sp>
        <p:nvSpPr>
          <p:cNvPr id="12" name="Shape 10"/>
          <p:cNvSpPr/>
          <p:nvPr/>
        </p:nvSpPr>
        <p:spPr>
          <a:xfrm>
            <a:off x="6603950" y="4051548"/>
            <a:ext cx="5080025" cy="4442296"/>
          </a:xfrm>
          <a:prstGeom prst="rect">
            <a:avLst/>
          </a:prstGeom>
          <a:solidFill>
            <a:srgbClr val="141416"/>
          </a:solidFill>
          <a:ln w="9525">
            <a:solidFill>
              <a:srgbClr val="2A2A2F"/>
            </a:solidFill>
            <a:prstDash val="solid"/>
          </a:ln>
        </p:spPr>
      </p:sp>
      <p:sp>
        <p:nvSpPr>
          <p:cNvPr id="13" name="Text 11"/>
          <p:cNvSpPr/>
          <p:nvPr/>
        </p:nvSpPr>
        <p:spPr>
          <a:xfrm>
            <a:off x="7070675" y="4518273"/>
            <a:ext cx="427097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SAM · SERVICEABLE</a:t>
            </a:r>
            <a:endParaRPr lang="en-US" sz="1800" dirty="0"/>
          </a:p>
        </p:txBody>
      </p:sp>
      <p:sp>
        <p:nvSpPr>
          <p:cNvPr id="14" name="Text 12"/>
          <p:cNvSpPr/>
          <p:nvPr/>
        </p:nvSpPr>
        <p:spPr>
          <a:xfrm>
            <a:off x="7070675" y="5051673"/>
            <a:ext cx="4270972" cy="1307753"/>
          </a:xfrm>
          <a:prstGeom prst="rect">
            <a:avLst/>
          </a:prstGeom>
          <a:noFill/>
          <a:ln/>
        </p:spPr>
        <p:txBody>
          <a:bodyPr wrap="square" lIns="25400" tIns="25400" rIns="25400" bIns="25400" rtlCol="0" anchor="t">
            <a:normAutofit/>
          </a:bodyPr>
          <a:lstStyle/>
          <a:p>
            <a:pPr algn="l" indent="0" marL="0">
              <a:lnSpc>
                <a:spcPct val="88000"/>
              </a:lnSpc>
              <a:buNone/>
            </a:pPr>
            <a:r>
              <a:rPr lang="en-US" sz="11250" b="1" spc="-225" kern="0" dirty="0">
                <a:solidFill>
                  <a:srgbClr val="FFFFFF"/>
                </a:solidFill>
                <a:latin typeface="Arial" pitchFamily="34" charset="0"/>
                <a:ea typeface="Arial" pitchFamily="34" charset="-122"/>
                <a:cs typeface="Arial" pitchFamily="34" charset="-120"/>
              </a:rPr>
              <a:t>$18</a:t>
            </a:r>
            <a:pPr algn="l" indent="0" marL="0">
              <a:lnSpc>
                <a:spcPct val="88000"/>
              </a:lnSpc>
              <a:buNone/>
            </a:pPr>
            <a:r>
              <a:rPr lang="en-US" sz="4500" b="1" spc="-225" kern="0" dirty="0">
                <a:solidFill>
                  <a:srgbClr val="9A9AA3"/>
                </a:solidFill>
                <a:latin typeface="Arial" pitchFamily="34" charset="0"/>
                <a:ea typeface="Arial" pitchFamily="34" charset="-122"/>
                <a:cs typeface="Arial" pitchFamily="34" charset="-120"/>
              </a:rPr>
              <a:t>B</a:t>
            </a:r>
            <a:endParaRPr lang="en-US" sz="11250" dirty="0"/>
          </a:p>
        </p:txBody>
      </p:sp>
      <p:sp>
        <p:nvSpPr>
          <p:cNvPr id="15" name="Shape 13"/>
          <p:cNvSpPr/>
          <p:nvPr/>
        </p:nvSpPr>
        <p:spPr>
          <a:xfrm>
            <a:off x="7070675" y="6626126"/>
            <a:ext cx="4146575" cy="9525"/>
          </a:xfrm>
          <a:prstGeom prst="rect">
            <a:avLst/>
          </a:prstGeom>
          <a:solidFill>
            <a:srgbClr val="FFFFFF">
              <a:alpha val="12000"/>
            </a:srgbClr>
          </a:solidFill>
          <a:ln/>
        </p:spPr>
      </p:sp>
      <p:sp>
        <p:nvSpPr>
          <p:cNvPr id="16" name="Text 14"/>
          <p:cNvSpPr/>
          <p:nvPr/>
        </p:nvSpPr>
        <p:spPr>
          <a:xfrm>
            <a:off x="7070675" y="6940451"/>
            <a:ext cx="4270972"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Critical infrastructure, Fortune 500 campuses, private estates, executive protection. Growing to $32B by 2030.</a:t>
            </a:r>
            <a:endParaRPr lang="en-US" sz="1950" dirty="0"/>
          </a:p>
        </p:txBody>
      </p:sp>
      <p:sp>
        <p:nvSpPr>
          <p:cNvPr id="17" name="Shape 15"/>
          <p:cNvSpPr/>
          <p:nvPr/>
        </p:nvSpPr>
        <p:spPr>
          <a:xfrm>
            <a:off x="12064975" y="4051548"/>
            <a:ext cx="5080025" cy="4442296"/>
          </a:xfrm>
          <a:prstGeom prst="rect">
            <a:avLst/>
          </a:prstGeom>
          <a:solidFill>
            <a:srgbClr val="1A0408"/>
          </a:solidFill>
          <a:ln w="9525">
            <a:solidFill>
              <a:srgbClr val="C8102E"/>
            </a:solidFill>
            <a:prstDash val="solid"/>
          </a:ln>
        </p:spPr>
      </p:sp>
      <p:sp>
        <p:nvSpPr>
          <p:cNvPr id="18" name="Text 16"/>
          <p:cNvSpPr/>
          <p:nvPr/>
        </p:nvSpPr>
        <p:spPr>
          <a:xfrm>
            <a:off x="12531700" y="4518273"/>
            <a:ext cx="427097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SOM · 24-MONTH TARGET</a:t>
            </a:r>
            <a:endParaRPr lang="en-US" sz="1800" dirty="0"/>
          </a:p>
        </p:txBody>
      </p:sp>
      <p:sp>
        <p:nvSpPr>
          <p:cNvPr id="19" name="Text 17"/>
          <p:cNvSpPr/>
          <p:nvPr/>
        </p:nvSpPr>
        <p:spPr>
          <a:xfrm>
            <a:off x="12531700" y="5051673"/>
            <a:ext cx="4270972" cy="1307753"/>
          </a:xfrm>
          <a:prstGeom prst="rect">
            <a:avLst/>
          </a:prstGeom>
          <a:noFill/>
          <a:ln/>
        </p:spPr>
        <p:txBody>
          <a:bodyPr wrap="square" lIns="25400" tIns="25400" rIns="25400" bIns="25400" rtlCol="0" anchor="t">
            <a:normAutofit/>
          </a:bodyPr>
          <a:lstStyle/>
          <a:p>
            <a:pPr algn="l" indent="0" marL="0">
              <a:lnSpc>
                <a:spcPct val="88000"/>
              </a:lnSpc>
              <a:buNone/>
            </a:pPr>
            <a:r>
              <a:rPr lang="en-US" sz="11250" b="1" spc="-225" kern="0" dirty="0">
                <a:solidFill>
                  <a:srgbClr val="C8102E"/>
                </a:solidFill>
                <a:latin typeface="Arial" pitchFamily="34" charset="0"/>
                <a:ea typeface="Arial" pitchFamily="34" charset="-122"/>
                <a:cs typeface="Arial" pitchFamily="34" charset="-120"/>
              </a:rPr>
              <a:t>$400</a:t>
            </a:r>
            <a:pPr algn="l" indent="0" marL="0">
              <a:lnSpc>
                <a:spcPct val="88000"/>
              </a:lnSpc>
              <a:buNone/>
            </a:pPr>
            <a:r>
              <a:rPr lang="en-US" sz="4500" b="1" spc="-225" kern="0" dirty="0">
                <a:solidFill>
                  <a:srgbClr val="9A9AA3"/>
                </a:solidFill>
                <a:latin typeface="Arial" pitchFamily="34" charset="0"/>
                <a:ea typeface="Arial" pitchFamily="34" charset="-122"/>
                <a:cs typeface="Arial" pitchFamily="34" charset="-120"/>
              </a:rPr>
              <a:t>M</a:t>
            </a:r>
            <a:endParaRPr lang="en-US" sz="11250" dirty="0"/>
          </a:p>
        </p:txBody>
      </p:sp>
      <p:sp>
        <p:nvSpPr>
          <p:cNvPr id="20" name="Shape 18"/>
          <p:cNvSpPr/>
          <p:nvPr/>
        </p:nvSpPr>
        <p:spPr>
          <a:xfrm>
            <a:off x="12531700" y="6626126"/>
            <a:ext cx="4146575" cy="19050"/>
          </a:xfrm>
          <a:prstGeom prst="rect">
            <a:avLst/>
          </a:prstGeom>
          <a:solidFill>
            <a:srgbClr val="C8102E"/>
          </a:solidFill>
          <a:ln/>
        </p:spPr>
      </p:sp>
      <p:sp>
        <p:nvSpPr>
          <p:cNvPr id="21" name="Text 19"/>
          <p:cNvSpPr/>
          <p:nvPr/>
        </p:nvSpPr>
        <p:spPr>
          <a:xfrm>
            <a:off x="12531700" y="6949976"/>
            <a:ext cx="4270972"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Forty metropolitan markets, 300+ enterprise accounts, 25% share of the integrated-response segment.</a:t>
            </a:r>
            <a:endParaRPr lang="en-US" sz="1950" dirty="0"/>
          </a:p>
        </p:txBody>
      </p:sp>
      <p:sp>
        <p:nvSpPr>
          <p:cNvPr id="22" name="Text 20"/>
          <p:cNvSpPr/>
          <p:nvPr/>
        </p:nvSpPr>
        <p:spPr>
          <a:xfrm>
            <a:off x="1143000" y="8951044"/>
            <a:ext cx="1648206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B6B73"/>
                </a:solidFill>
                <a:latin typeface="Courier New" pitchFamily="34" charset="0"/>
                <a:ea typeface="Courier New" pitchFamily="34" charset="-122"/>
                <a:cs typeface="Courier New" pitchFamily="34" charset="-120"/>
              </a:rPr>
              <a:t>SOURCES · IBISWORLD 2025 · DRONEII COMMERCIAL REPORT · OMDIA PHYSICAL SECURITY TRACKER · DXD INTERNAL MODEL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rcRect l="0" r="0" t="0" b="0"/>
          <a:stretch/>
        </p:blipFill>
        <p:spPr>
          <a:xfrm>
            <a:off x="0" y="0"/>
            <a:ext cx="18288000" cy="10287000"/>
          </a:xfrm>
          <a:prstGeom prst="rect">
            <a:avLst/>
          </a:prstGeom>
        </p:spPr>
      </p:pic>
      <p:sp>
        <p:nvSpPr>
          <p:cNvPr id="3" name="Shape 0"/>
          <p:cNvSpPr/>
          <p:nvPr/>
        </p:nvSpPr>
        <p:spPr>
          <a:xfrm>
            <a:off x="1143000" y="485775"/>
            <a:ext cx="209550" cy="209550"/>
          </a:xfrm>
          <a:prstGeom prst="rect">
            <a:avLst/>
          </a:prstGeom>
          <a:solidFill>
            <a:srgbClr val="C8102E"/>
          </a:solidFill>
          <a:ln/>
        </p:spPr>
      </p:sp>
      <p:sp>
        <p:nvSpPr>
          <p:cNvPr id="4"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5" name="Text 2"/>
          <p:cNvSpPr/>
          <p:nvPr/>
        </p:nvSpPr>
        <p:spPr>
          <a:xfrm>
            <a:off x="14856023" y="419100"/>
            <a:ext cx="2365177"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05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COMPANY</a:t>
            </a:r>
            <a:endParaRPr lang="en-US" sz="1800" dirty="0"/>
          </a:p>
        </p:txBody>
      </p:sp>
      <p:pic>
        <p:nvPicPr>
          <p:cNvPr id="6" name="Image 1" descr="preencoded.png">    </p:cNvPr>
          <p:cNvPicPr>
            <a:picLocks noChangeAspect="1"/>
          </p:cNvPicPr>
          <p:nvPr/>
        </p:nvPicPr>
        <p:blipFill>
          <a:blip r:embed="rId2"/>
          <a:srcRect l="0" r="0" t="0" b="0"/>
          <a:stretch/>
        </p:blipFill>
        <p:spPr>
          <a:xfrm>
            <a:off x="1143000" y="1047750"/>
            <a:ext cx="6096000" cy="6096000"/>
          </a:xfrm>
          <a:prstGeom prst="rect">
            <a:avLst/>
          </a:prstGeom>
        </p:spPr>
      </p:pic>
      <p:sp>
        <p:nvSpPr>
          <p:cNvPr id="7" name="Text 3"/>
          <p:cNvSpPr/>
          <p:nvPr/>
        </p:nvSpPr>
        <p:spPr>
          <a:xfrm>
            <a:off x="8001000" y="1113309"/>
            <a:ext cx="941832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WHAT WE ARE</a:t>
            </a:r>
            <a:endParaRPr lang="en-US" sz="1800" dirty="0"/>
          </a:p>
        </p:txBody>
      </p:sp>
      <p:sp>
        <p:nvSpPr>
          <p:cNvPr id="8" name="Text 4"/>
          <p:cNvSpPr/>
          <p:nvPr/>
        </p:nvSpPr>
        <p:spPr>
          <a:xfrm>
            <a:off x="8001000" y="2142009"/>
            <a:ext cx="9418320" cy="3069282"/>
          </a:xfrm>
          <a:prstGeom prst="rect">
            <a:avLst/>
          </a:prstGeom>
          <a:noFill/>
          <a:ln/>
        </p:spPr>
        <p:txBody>
          <a:bodyPr wrap="square" lIns="25400" tIns="25400" rIns="25400" bIns="25400" rtlCol="0" anchor="t">
            <a:normAutofit/>
          </a:bodyPr>
          <a:lstStyle/>
          <a:p>
            <a:pPr algn="l" indent="0" marL="0">
              <a:lnSpc>
                <a:spcPct val="102000"/>
              </a:lnSpc>
              <a:buNone/>
            </a:pPr>
            <a:r>
              <a:rPr lang="en-US" sz="7800" b="1" spc="-39" kern="0" dirty="0">
                <a:solidFill>
                  <a:srgbClr val="FFFFFF"/>
                </a:solidFill>
                <a:latin typeface="Arial" pitchFamily="34" charset="0"/>
                <a:ea typeface="Arial" pitchFamily="34" charset="-122"/>
                <a:cs typeface="Arial" pitchFamily="34" charset="-120"/>
              </a:rPr>
              <a:t>ONE CONTRACT. ONE PLATFORM. </a:t>
            </a:r>
            <a:pPr algn="l" indent="0" marL="0">
              <a:lnSpc>
                <a:spcPct val="102000"/>
              </a:lnSpc>
              <a:buNone/>
            </a:pPr>
            <a:r>
              <a:rPr lang="en-US" sz="7800" b="1" spc="-39" kern="0" dirty="0">
                <a:solidFill>
                  <a:srgbClr val="C8102E"/>
                </a:solidFill>
                <a:latin typeface="Arial" pitchFamily="34" charset="0"/>
                <a:ea typeface="Arial" pitchFamily="34" charset="-122"/>
                <a:cs typeface="Arial" pitchFamily="34" charset="-120"/>
              </a:rPr>
              <a:t>ONE UNIFIED STACK.</a:t>
            </a:r>
            <a:endParaRPr lang="en-US" sz="7800" dirty="0"/>
          </a:p>
        </p:txBody>
      </p:sp>
      <p:sp>
        <p:nvSpPr>
          <p:cNvPr id="9" name="Text 5"/>
          <p:cNvSpPr/>
          <p:nvPr/>
        </p:nvSpPr>
        <p:spPr>
          <a:xfrm>
            <a:off x="8001000" y="5592291"/>
            <a:ext cx="9418320" cy="1524000"/>
          </a:xfrm>
          <a:prstGeom prst="rect">
            <a:avLst/>
          </a:prstGeom>
          <a:noFill/>
          <a:ln/>
        </p:spPr>
        <p:txBody>
          <a:bodyPr wrap="square" lIns="25400" tIns="25400" rIns="25400" bIns="25400" rtlCol="0" anchor="t">
            <a:normAutofit/>
          </a:bodyPr>
          <a:lstStyle/>
          <a:p>
            <a:pPr algn="l" indent="0" marL="0">
              <a:lnSpc>
                <a:spcPct val="130000"/>
              </a:lnSpc>
              <a:buNone/>
            </a:pPr>
            <a:r>
              <a:rPr lang="en-US" sz="3000" spc="-15" kern="0" dirty="0">
                <a:solidFill>
                  <a:srgbClr val="D4D4D8"/>
                </a:solidFill>
                <a:latin typeface="Arial" pitchFamily="34" charset="0"/>
                <a:ea typeface="Arial" pitchFamily="34" charset="-122"/>
                <a:cs typeface="Arial" pitchFamily="34" charset="-120"/>
              </a:rPr>
              <a:t>Deus X Defense is security-as-a-service: autonomous drones, vetted personnel, and AI-driven command — delivered as a single integrated service, 24/7.</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200584" y="419100"/>
            <a:ext cx="303274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06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ARCHITECTURE</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THE INTEGRATION IS THE MOAT</a:t>
            </a:r>
            <a:endParaRPr lang="en-US" sz="1800" dirty="0"/>
          </a:p>
        </p:txBody>
      </p:sp>
      <p:sp>
        <p:nvSpPr>
          <p:cNvPr id="6" name="Text 4"/>
          <p:cNvSpPr/>
          <p:nvPr/>
        </p:nvSpPr>
        <p:spPr>
          <a:xfrm>
            <a:off x="1143000" y="1657350"/>
            <a:ext cx="14716125"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FOUR LAYERS. ONE OPERATING SYSTEM.</a:t>
            </a:r>
            <a:endParaRPr lang="en-US" sz="6300" dirty="0"/>
          </a:p>
        </p:txBody>
      </p:sp>
      <p:sp>
        <p:nvSpPr>
          <p:cNvPr id="7" name="Shape 5"/>
          <p:cNvSpPr/>
          <p:nvPr/>
        </p:nvSpPr>
        <p:spPr>
          <a:xfrm>
            <a:off x="1143000" y="3822948"/>
            <a:ext cx="16002000" cy="1425848"/>
          </a:xfrm>
          <a:prstGeom prst="rect">
            <a:avLst/>
          </a:prstGeom>
          <a:solidFill>
            <a:srgbClr val="C8102E">
              <a:alpha val="8000"/>
            </a:srgbClr>
          </a:solidFill>
          <a:ln w="9525">
            <a:solidFill>
              <a:srgbClr val="C8102E"/>
            </a:solidFill>
            <a:prstDash val="solid"/>
          </a:ln>
        </p:spPr>
      </p:sp>
      <p:sp>
        <p:nvSpPr>
          <p:cNvPr id="8" name="Text 6"/>
          <p:cNvSpPr/>
          <p:nvPr/>
        </p:nvSpPr>
        <p:spPr>
          <a:xfrm>
            <a:off x="1609725" y="4364385"/>
            <a:ext cx="19812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L4 · COMMAND</a:t>
            </a:r>
            <a:endParaRPr lang="en-US" sz="1800" dirty="0"/>
          </a:p>
        </p:txBody>
      </p:sp>
      <p:sp>
        <p:nvSpPr>
          <p:cNvPr id="9" name="Text 7"/>
          <p:cNvSpPr/>
          <p:nvPr/>
        </p:nvSpPr>
        <p:spPr>
          <a:xfrm>
            <a:off x="3895725" y="4099173"/>
            <a:ext cx="11427071"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FFFFFF"/>
                </a:solidFill>
                <a:latin typeface="Arial" pitchFamily="34" charset="0"/>
                <a:ea typeface="Arial" pitchFamily="34" charset="-122"/>
                <a:cs typeface="Arial" pitchFamily="34" charset="-120"/>
              </a:rPr>
              <a:t>SINGLE PANE OF GLASS</a:t>
            </a:r>
            <a:endParaRPr lang="en-US" sz="3300" dirty="0"/>
          </a:p>
        </p:txBody>
      </p:sp>
      <p:sp>
        <p:nvSpPr>
          <p:cNvPr id="10" name="Text 8"/>
          <p:cNvSpPr/>
          <p:nvPr/>
        </p:nvSpPr>
        <p:spPr>
          <a:xfrm>
            <a:off x="3895725" y="4613523"/>
            <a:ext cx="11427071"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Unified C3 platform. Geolocated assets, real-time triage, audit trail, tenant-isolated RLS.</a:t>
            </a:r>
            <a:endParaRPr lang="en-US" sz="1950" dirty="0"/>
          </a:p>
        </p:txBody>
      </p:sp>
      <p:sp>
        <p:nvSpPr>
          <p:cNvPr id="11" name="Shape 9"/>
          <p:cNvSpPr/>
          <p:nvPr/>
        </p:nvSpPr>
        <p:spPr>
          <a:xfrm>
            <a:off x="15370969" y="4288185"/>
            <a:ext cx="1307306" cy="495300"/>
          </a:xfrm>
          <a:prstGeom prst="roundRect">
            <a:avLst>
              <a:gd name="adj" fmla="val 50000"/>
            </a:avLst>
          </a:prstGeom>
          <a:ln w="9525">
            <a:solidFill>
              <a:srgbClr val="C8102E"/>
            </a:solidFill>
            <a:prstDash val="solid"/>
          </a:ln>
        </p:spPr>
      </p:sp>
      <p:sp>
        <p:nvSpPr>
          <p:cNvPr id="12" name="Shape 10"/>
          <p:cNvSpPr/>
          <p:nvPr/>
        </p:nvSpPr>
        <p:spPr>
          <a:xfrm>
            <a:off x="15570994" y="4497735"/>
            <a:ext cx="76200" cy="76200"/>
          </a:xfrm>
          <a:prstGeom prst="ellipse">
            <a:avLst/>
          </a:prstGeom>
          <a:solidFill>
            <a:srgbClr val="C8102E"/>
          </a:solidFill>
          <a:ln/>
          <a:effectLst>
            <a:outerShdw sx="100000" sy="100000" kx="0" ky="0" algn="bl" rotWithShape="0" blurRad="101600" dist="50800" dir="16200000">
              <a:srgbClr val="C8102E">
                <a:alpha val="25000"/>
              </a:srgbClr>
            </a:outerShdw>
          </a:effectLst>
        </p:spPr>
      </p:sp>
      <p:sp>
        <p:nvSpPr>
          <p:cNvPr id="13" name="Text 11"/>
          <p:cNvSpPr/>
          <p:nvPr/>
        </p:nvSpPr>
        <p:spPr>
          <a:xfrm>
            <a:off x="15742444" y="4392960"/>
            <a:ext cx="812006" cy="323850"/>
          </a:xfrm>
          <a:prstGeom prst="rect">
            <a:avLst/>
          </a:prstGeom>
          <a:noFill/>
          <a:ln/>
        </p:spPr>
        <p:txBody>
          <a:bodyPr wrap="square" lIns="0" tIns="0" rIns="0" bIns="0" rtlCol="0" anchor="t">
            <a:normAutofit/>
          </a:bodyPr>
          <a:lstStyle/>
          <a:p>
            <a:pPr algn="l" indent="0" marL="0">
              <a:lnSpc>
                <a:spcPct val="150000"/>
              </a:lnSpc>
              <a:buNone/>
            </a:pPr>
            <a:r>
              <a:rPr lang="en-US" sz="1500" spc="240" kern="0" dirty="0">
                <a:solidFill>
                  <a:srgbClr val="C8102E"/>
                </a:solidFill>
                <a:latin typeface="Arial" pitchFamily="34" charset="0"/>
                <a:ea typeface="Arial" pitchFamily="34" charset="-122"/>
                <a:cs typeface="Arial" pitchFamily="34" charset="-120"/>
              </a:rPr>
              <a:t>DXD OS</a:t>
            </a:r>
            <a:endParaRPr lang="en-US" sz="1500" dirty="0"/>
          </a:p>
        </p:txBody>
      </p:sp>
      <p:sp>
        <p:nvSpPr>
          <p:cNvPr id="14" name="Shape 12"/>
          <p:cNvSpPr/>
          <p:nvPr/>
        </p:nvSpPr>
        <p:spPr>
          <a:xfrm>
            <a:off x="1143000" y="5363096"/>
            <a:ext cx="16002000" cy="1425848"/>
          </a:xfrm>
          <a:prstGeom prst="rect">
            <a:avLst/>
          </a:prstGeom>
          <a:solidFill>
            <a:srgbClr val="141416"/>
          </a:solidFill>
          <a:ln w="9525">
            <a:solidFill>
              <a:srgbClr val="2A2A2F"/>
            </a:solidFill>
            <a:prstDash val="solid"/>
          </a:ln>
        </p:spPr>
      </p:sp>
      <p:sp>
        <p:nvSpPr>
          <p:cNvPr id="15" name="Text 13"/>
          <p:cNvSpPr/>
          <p:nvPr/>
        </p:nvSpPr>
        <p:spPr>
          <a:xfrm>
            <a:off x="1609725" y="5904533"/>
            <a:ext cx="19812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L3 · RESPONSE</a:t>
            </a:r>
            <a:endParaRPr lang="en-US" sz="1800" dirty="0"/>
          </a:p>
        </p:txBody>
      </p:sp>
      <p:sp>
        <p:nvSpPr>
          <p:cNvPr id="16" name="Text 14"/>
          <p:cNvSpPr/>
          <p:nvPr/>
        </p:nvSpPr>
        <p:spPr>
          <a:xfrm>
            <a:off x="3895725" y="5639321"/>
            <a:ext cx="12145709"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FFFFFF"/>
                </a:solidFill>
                <a:latin typeface="Arial" pitchFamily="34" charset="0"/>
                <a:ea typeface="Arial" pitchFamily="34" charset="-122"/>
                <a:cs typeface="Arial" pitchFamily="34" charset="-120"/>
              </a:rPr>
              <a:t>VETTED HUMAN OPERATORS</a:t>
            </a:r>
            <a:endParaRPr lang="en-US" sz="3300" dirty="0"/>
          </a:p>
        </p:txBody>
      </p:sp>
      <p:sp>
        <p:nvSpPr>
          <p:cNvPr id="17" name="Text 15"/>
          <p:cNvSpPr/>
          <p:nvPr/>
        </p:nvSpPr>
        <p:spPr>
          <a:xfrm>
            <a:off x="3895725" y="6153671"/>
            <a:ext cx="1214570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Armed, unarmed, off-duty LE, executive protection. Judgment at the point of risk.</a:t>
            </a:r>
            <a:endParaRPr lang="en-US" sz="1950" dirty="0"/>
          </a:p>
        </p:txBody>
      </p:sp>
      <p:pic>
        <p:nvPicPr>
          <p:cNvPr id="18" name="Image 0" descr="preencoded.png">    </p:cNvPr>
          <p:cNvPicPr>
            <a:picLocks noChangeAspect="1"/>
          </p:cNvPicPr>
          <p:nvPr/>
        </p:nvPicPr>
        <p:blipFill>
          <a:blip r:embed="rId1"/>
          <a:stretch>
            <a:fillRect/>
          </a:stretch>
        </p:blipFill>
        <p:spPr>
          <a:xfrm>
            <a:off x="16068675" y="5771183"/>
            <a:ext cx="609600" cy="609600"/>
          </a:xfrm>
          <a:prstGeom prst="rect">
            <a:avLst/>
          </a:prstGeom>
        </p:spPr>
      </p:pic>
      <p:sp>
        <p:nvSpPr>
          <p:cNvPr id="19" name="Shape 16"/>
          <p:cNvSpPr/>
          <p:nvPr/>
        </p:nvSpPr>
        <p:spPr>
          <a:xfrm>
            <a:off x="1143000" y="6903244"/>
            <a:ext cx="16002000" cy="1425848"/>
          </a:xfrm>
          <a:prstGeom prst="rect">
            <a:avLst/>
          </a:prstGeom>
          <a:solidFill>
            <a:srgbClr val="141416"/>
          </a:solidFill>
          <a:ln w="9525">
            <a:solidFill>
              <a:srgbClr val="2A2A2F"/>
            </a:solidFill>
            <a:prstDash val="solid"/>
          </a:ln>
        </p:spPr>
      </p:sp>
      <p:sp>
        <p:nvSpPr>
          <p:cNvPr id="20" name="Text 17"/>
          <p:cNvSpPr/>
          <p:nvPr/>
        </p:nvSpPr>
        <p:spPr>
          <a:xfrm>
            <a:off x="1609725" y="7273230"/>
            <a:ext cx="198120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L2 · INTELLIGENCE</a:t>
            </a:r>
            <a:endParaRPr lang="en-US" sz="1800" dirty="0"/>
          </a:p>
        </p:txBody>
      </p:sp>
      <p:sp>
        <p:nvSpPr>
          <p:cNvPr id="21" name="Text 18"/>
          <p:cNvSpPr/>
          <p:nvPr/>
        </p:nvSpPr>
        <p:spPr>
          <a:xfrm>
            <a:off x="3895725" y="7179469"/>
            <a:ext cx="12145709"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FFFFFF"/>
                </a:solidFill>
                <a:latin typeface="Arial" pitchFamily="34" charset="0"/>
                <a:ea typeface="Arial" pitchFamily="34" charset="-122"/>
                <a:cs typeface="Arial" pitchFamily="34" charset="-120"/>
              </a:rPr>
              <a:t>AI DETECTION &amp; TRIAGE</a:t>
            </a:r>
            <a:endParaRPr lang="en-US" sz="3300" dirty="0"/>
          </a:p>
        </p:txBody>
      </p:sp>
      <p:sp>
        <p:nvSpPr>
          <p:cNvPr id="22" name="Text 19"/>
          <p:cNvSpPr/>
          <p:nvPr/>
        </p:nvSpPr>
        <p:spPr>
          <a:xfrm>
            <a:off x="3895725" y="7693819"/>
            <a:ext cx="1214570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Computer vision across every sensor stream. Human-in-the-loop classification. Sub-second alerting.</a:t>
            </a:r>
            <a:endParaRPr lang="en-US" sz="1950" dirty="0"/>
          </a:p>
        </p:txBody>
      </p:sp>
      <p:pic>
        <p:nvPicPr>
          <p:cNvPr id="23" name="Image 1" descr="preencoded.png">    </p:cNvPr>
          <p:cNvPicPr>
            <a:picLocks noChangeAspect="1"/>
          </p:cNvPicPr>
          <p:nvPr/>
        </p:nvPicPr>
        <p:blipFill>
          <a:blip r:embed="rId2"/>
          <a:stretch>
            <a:fillRect/>
          </a:stretch>
        </p:blipFill>
        <p:spPr>
          <a:xfrm>
            <a:off x="16068675" y="7311330"/>
            <a:ext cx="609600" cy="609600"/>
          </a:xfrm>
          <a:prstGeom prst="rect">
            <a:avLst/>
          </a:prstGeom>
        </p:spPr>
      </p:pic>
      <p:sp>
        <p:nvSpPr>
          <p:cNvPr id="24" name="Shape 20"/>
          <p:cNvSpPr/>
          <p:nvPr/>
        </p:nvSpPr>
        <p:spPr>
          <a:xfrm>
            <a:off x="1143000" y="8443392"/>
            <a:ext cx="16002000" cy="1425848"/>
          </a:xfrm>
          <a:prstGeom prst="rect">
            <a:avLst/>
          </a:prstGeom>
          <a:solidFill>
            <a:srgbClr val="141416"/>
          </a:solidFill>
          <a:ln w="9525">
            <a:solidFill>
              <a:srgbClr val="2A2A2F"/>
            </a:solidFill>
            <a:prstDash val="solid"/>
          </a:ln>
        </p:spPr>
      </p:sp>
      <p:sp>
        <p:nvSpPr>
          <p:cNvPr id="25" name="Text 21"/>
          <p:cNvSpPr/>
          <p:nvPr/>
        </p:nvSpPr>
        <p:spPr>
          <a:xfrm>
            <a:off x="1609725" y="8984828"/>
            <a:ext cx="19812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L1 · SENSING</a:t>
            </a:r>
            <a:endParaRPr lang="en-US" sz="1800" dirty="0"/>
          </a:p>
        </p:txBody>
      </p:sp>
      <p:sp>
        <p:nvSpPr>
          <p:cNvPr id="26" name="Text 22"/>
          <p:cNvSpPr/>
          <p:nvPr/>
        </p:nvSpPr>
        <p:spPr>
          <a:xfrm>
            <a:off x="3895725" y="8719617"/>
            <a:ext cx="12145709"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FFFFFF"/>
                </a:solidFill>
                <a:latin typeface="Arial" pitchFamily="34" charset="0"/>
                <a:ea typeface="Arial" pitchFamily="34" charset="-122"/>
                <a:cs typeface="Arial" pitchFamily="34" charset="-120"/>
              </a:rPr>
              <a:t>DRONES · CAMERAS · ACCESS</a:t>
            </a:r>
            <a:endParaRPr lang="en-US" sz="3300" dirty="0"/>
          </a:p>
        </p:txBody>
      </p:sp>
      <p:sp>
        <p:nvSpPr>
          <p:cNvPr id="27" name="Text 23"/>
          <p:cNvSpPr/>
          <p:nvPr/>
        </p:nvSpPr>
        <p:spPr>
          <a:xfrm>
            <a:off x="3895725" y="9233967"/>
            <a:ext cx="1214570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NDAA &amp; Non-NDAA drone fleets, fixed optics, access control, acoustic and RF sensors.</a:t>
            </a:r>
            <a:endParaRPr lang="en-US" sz="1950" dirty="0"/>
          </a:p>
        </p:txBody>
      </p:sp>
      <p:pic>
        <p:nvPicPr>
          <p:cNvPr id="28" name="Image 2" descr="preencoded.png">    </p:cNvPr>
          <p:cNvPicPr>
            <a:picLocks noChangeAspect="1"/>
          </p:cNvPicPr>
          <p:nvPr/>
        </p:nvPicPr>
        <p:blipFill>
          <a:blip r:embed="rId3"/>
          <a:stretch>
            <a:fillRect/>
          </a:stretch>
        </p:blipFill>
        <p:spPr>
          <a:xfrm>
            <a:off x="16068675" y="8851478"/>
            <a:ext cx="609600" cy="60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745072" y="419100"/>
            <a:ext cx="247612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07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PRODUCTS</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FIVE SERVICES · ONE STACK</a:t>
            </a:r>
            <a:endParaRPr lang="en-US" sz="1800" dirty="0"/>
          </a:p>
        </p:txBody>
      </p:sp>
      <p:sp>
        <p:nvSpPr>
          <p:cNvPr id="6" name="Text 4"/>
          <p:cNvSpPr/>
          <p:nvPr/>
        </p:nvSpPr>
        <p:spPr>
          <a:xfrm>
            <a:off x="1143000" y="1657350"/>
            <a:ext cx="16482060" cy="854199"/>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OUR SOLUTIONS.</a:t>
            </a:r>
            <a:endParaRPr lang="en-US" sz="6300" dirty="0"/>
          </a:p>
        </p:txBody>
      </p:sp>
      <p:sp>
        <p:nvSpPr>
          <p:cNvPr id="7" name="Shape 5"/>
          <p:cNvSpPr/>
          <p:nvPr/>
        </p:nvSpPr>
        <p:spPr>
          <a:xfrm>
            <a:off x="1143000" y="3083049"/>
            <a:ext cx="3017490" cy="6346701"/>
          </a:xfrm>
          <a:prstGeom prst="rect">
            <a:avLst/>
          </a:prstGeom>
          <a:solidFill>
            <a:srgbClr val="141416"/>
          </a:solidFill>
          <a:ln w="9525">
            <a:solidFill>
              <a:srgbClr val="2A2A2F"/>
            </a:solidFill>
            <a:prstDash val="solid"/>
          </a:ln>
        </p:spPr>
      </p:sp>
      <p:pic>
        <p:nvPicPr>
          <p:cNvPr id="8" name="Image 0" descr="preencoded.png">    </p:cNvPr>
          <p:cNvPicPr>
            <a:picLocks noChangeAspect="1"/>
          </p:cNvPicPr>
          <p:nvPr/>
        </p:nvPicPr>
        <p:blipFill>
          <a:blip r:embed="rId1"/>
          <a:stretch>
            <a:fillRect/>
          </a:stretch>
        </p:blipFill>
        <p:spPr>
          <a:xfrm>
            <a:off x="1457325" y="3473574"/>
            <a:ext cx="762000" cy="762000"/>
          </a:xfrm>
          <a:prstGeom prst="rect">
            <a:avLst/>
          </a:prstGeom>
        </p:spPr>
      </p:pic>
      <p:sp>
        <p:nvSpPr>
          <p:cNvPr id="9" name="Text 6"/>
          <p:cNvSpPr/>
          <p:nvPr/>
        </p:nvSpPr>
        <p:spPr>
          <a:xfrm>
            <a:off x="1457325" y="4502274"/>
            <a:ext cx="246504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DAAS</a:t>
            </a:r>
            <a:endParaRPr lang="en-US" sz="1800" dirty="0"/>
          </a:p>
        </p:txBody>
      </p:sp>
      <p:sp>
        <p:nvSpPr>
          <p:cNvPr id="10" name="Text 7"/>
          <p:cNvSpPr/>
          <p:nvPr/>
        </p:nvSpPr>
        <p:spPr>
          <a:xfrm>
            <a:off x="1457325" y="5111874"/>
            <a:ext cx="2465040" cy="718096"/>
          </a:xfrm>
          <a:prstGeom prst="rect">
            <a:avLst/>
          </a:prstGeom>
          <a:noFill/>
          <a:ln/>
        </p:spPr>
        <p:txBody>
          <a:bodyPr wrap="square" lIns="25400" tIns="25400" rIns="25400" bIns="25400" rtlCol="0" anchor="t">
            <a:normAutofit/>
          </a:bodyPr>
          <a:lstStyle/>
          <a:p>
            <a:pPr algn="l" indent="0" marL="0">
              <a:lnSpc>
                <a:spcPct val="105000"/>
              </a:lnSpc>
              <a:buNone/>
            </a:pPr>
            <a:r>
              <a:rPr lang="en-US" sz="2550" spc="26" kern="0" dirty="0">
                <a:solidFill>
                  <a:srgbClr val="FFFFFF"/>
                </a:solidFill>
                <a:latin typeface="Arial" pitchFamily="34" charset="0"/>
                <a:ea typeface="Arial" pitchFamily="34" charset="-122"/>
                <a:cs typeface="Arial" pitchFamily="34" charset="-120"/>
              </a:rPr>
              <a:t>DRONE-AS-A-SERVICE</a:t>
            </a:r>
            <a:endParaRPr lang="en-US" sz="2550" dirty="0"/>
          </a:p>
        </p:txBody>
      </p:sp>
      <p:sp>
        <p:nvSpPr>
          <p:cNvPr id="11" name="Text 8"/>
          <p:cNvSpPr/>
          <p:nvPr/>
        </p:nvSpPr>
        <p:spPr>
          <a:xfrm>
            <a:off x="1457325" y="6306220"/>
            <a:ext cx="2465040" cy="1833339"/>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On-demand aerial response. Autonomous fleets. Regulatory &amp; waiver work handled.</a:t>
            </a:r>
            <a:endParaRPr lang="en-US" sz="1950" dirty="0"/>
          </a:p>
        </p:txBody>
      </p:sp>
      <p:sp>
        <p:nvSpPr>
          <p:cNvPr id="12" name="Text 9"/>
          <p:cNvSpPr/>
          <p:nvPr/>
        </p:nvSpPr>
        <p:spPr>
          <a:xfrm>
            <a:off x="1457325" y="8696325"/>
            <a:ext cx="246504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NDAA · NON-NDAA</a:t>
            </a:r>
            <a:endParaRPr lang="en-US" sz="1800" dirty="0"/>
          </a:p>
        </p:txBody>
      </p:sp>
      <p:sp>
        <p:nvSpPr>
          <p:cNvPr id="13" name="Shape 10"/>
          <p:cNvSpPr/>
          <p:nvPr/>
        </p:nvSpPr>
        <p:spPr>
          <a:xfrm>
            <a:off x="4389090" y="3083049"/>
            <a:ext cx="3017565" cy="6346701"/>
          </a:xfrm>
          <a:prstGeom prst="rect">
            <a:avLst/>
          </a:prstGeom>
          <a:solidFill>
            <a:srgbClr val="141416"/>
          </a:solidFill>
          <a:ln w="9525">
            <a:solidFill>
              <a:srgbClr val="2A2A2F"/>
            </a:solidFill>
            <a:prstDash val="solid"/>
          </a:ln>
        </p:spPr>
      </p:sp>
      <p:pic>
        <p:nvPicPr>
          <p:cNvPr id="14" name="Image 1" descr="preencoded.png">    </p:cNvPr>
          <p:cNvPicPr>
            <a:picLocks noChangeAspect="1"/>
          </p:cNvPicPr>
          <p:nvPr/>
        </p:nvPicPr>
        <p:blipFill>
          <a:blip r:embed="rId2"/>
          <a:stretch>
            <a:fillRect/>
          </a:stretch>
        </p:blipFill>
        <p:spPr>
          <a:xfrm>
            <a:off x="4703415" y="3473574"/>
            <a:ext cx="762000" cy="762000"/>
          </a:xfrm>
          <a:prstGeom prst="rect">
            <a:avLst/>
          </a:prstGeom>
        </p:spPr>
      </p:pic>
      <p:sp>
        <p:nvSpPr>
          <p:cNvPr id="15" name="Text 11"/>
          <p:cNvSpPr/>
          <p:nvPr/>
        </p:nvSpPr>
        <p:spPr>
          <a:xfrm>
            <a:off x="4703415" y="4502274"/>
            <a:ext cx="24651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MGS</a:t>
            </a:r>
            <a:endParaRPr lang="en-US" sz="1800" dirty="0"/>
          </a:p>
        </p:txBody>
      </p:sp>
      <p:sp>
        <p:nvSpPr>
          <p:cNvPr id="16" name="Text 12"/>
          <p:cNvSpPr/>
          <p:nvPr/>
        </p:nvSpPr>
        <p:spPr>
          <a:xfrm>
            <a:off x="4703415" y="5111874"/>
            <a:ext cx="2465115" cy="718096"/>
          </a:xfrm>
          <a:prstGeom prst="rect">
            <a:avLst/>
          </a:prstGeom>
          <a:noFill/>
          <a:ln/>
        </p:spPr>
        <p:txBody>
          <a:bodyPr wrap="square" lIns="25400" tIns="25400" rIns="25400" bIns="25400" rtlCol="0" anchor="t">
            <a:normAutofit/>
          </a:bodyPr>
          <a:lstStyle/>
          <a:p>
            <a:pPr algn="l" indent="0" marL="0">
              <a:lnSpc>
                <a:spcPct val="105000"/>
              </a:lnSpc>
              <a:buNone/>
            </a:pPr>
            <a:r>
              <a:rPr lang="en-US" sz="2550" spc="26" kern="0" dirty="0">
                <a:solidFill>
                  <a:srgbClr val="FFFFFF"/>
                </a:solidFill>
                <a:latin typeface="Arial" pitchFamily="34" charset="0"/>
                <a:ea typeface="Arial" pitchFamily="34" charset="-122"/>
                <a:cs typeface="Arial" pitchFamily="34" charset="-120"/>
              </a:rPr>
              <a:t>MANNED GUARDING</a:t>
            </a:r>
            <a:endParaRPr lang="en-US" sz="2550" dirty="0"/>
          </a:p>
        </p:txBody>
      </p:sp>
      <p:sp>
        <p:nvSpPr>
          <p:cNvPr id="17" name="Text 13"/>
          <p:cNvSpPr/>
          <p:nvPr/>
        </p:nvSpPr>
        <p:spPr>
          <a:xfrm>
            <a:off x="4703415" y="6306220"/>
            <a:ext cx="2465115" cy="147429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Vetted armed, unarmed, and off-duty law enforcement personnel.</a:t>
            </a:r>
            <a:endParaRPr lang="en-US" sz="1950" dirty="0"/>
          </a:p>
        </p:txBody>
      </p:sp>
      <p:sp>
        <p:nvSpPr>
          <p:cNvPr id="18" name="Text 14"/>
          <p:cNvSpPr/>
          <p:nvPr/>
        </p:nvSpPr>
        <p:spPr>
          <a:xfrm>
            <a:off x="4703415" y="8696325"/>
            <a:ext cx="24651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LE-TRAINED</a:t>
            </a:r>
            <a:endParaRPr lang="en-US" sz="1800" dirty="0"/>
          </a:p>
        </p:txBody>
      </p:sp>
      <p:sp>
        <p:nvSpPr>
          <p:cNvPr id="19" name="Shape 15"/>
          <p:cNvSpPr/>
          <p:nvPr/>
        </p:nvSpPr>
        <p:spPr>
          <a:xfrm>
            <a:off x="7635255" y="3083049"/>
            <a:ext cx="3017490" cy="6346701"/>
          </a:xfrm>
          <a:prstGeom prst="rect">
            <a:avLst/>
          </a:prstGeom>
          <a:solidFill>
            <a:srgbClr val="141416"/>
          </a:solidFill>
          <a:ln w="9525">
            <a:solidFill>
              <a:srgbClr val="2A2A2F"/>
            </a:solidFill>
            <a:prstDash val="solid"/>
          </a:ln>
        </p:spPr>
      </p:sp>
      <p:pic>
        <p:nvPicPr>
          <p:cNvPr id="20" name="Image 2" descr="preencoded.png">    </p:cNvPr>
          <p:cNvPicPr>
            <a:picLocks noChangeAspect="1"/>
          </p:cNvPicPr>
          <p:nvPr/>
        </p:nvPicPr>
        <p:blipFill>
          <a:blip r:embed="rId3"/>
          <a:stretch>
            <a:fillRect/>
          </a:stretch>
        </p:blipFill>
        <p:spPr>
          <a:xfrm>
            <a:off x="7949580" y="3473574"/>
            <a:ext cx="762000" cy="762000"/>
          </a:xfrm>
          <a:prstGeom prst="rect">
            <a:avLst/>
          </a:prstGeom>
        </p:spPr>
      </p:pic>
      <p:sp>
        <p:nvSpPr>
          <p:cNvPr id="21" name="Text 16"/>
          <p:cNvSpPr/>
          <p:nvPr/>
        </p:nvSpPr>
        <p:spPr>
          <a:xfrm>
            <a:off x="7949580" y="4502274"/>
            <a:ext cx="246504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RMR</a:t>
            </a:r>
            <a:endParaRPr lang="en-US" sz="1800" dirty="0"/>
          </a:p>
        </p:txBody>
      </p:sp>
      <p:sp>
        <p:nvSpPr>
          <p:cNvPr id="22" name="Text 17"/>
          <p:cNvSpPr/>
          <p:nvPr/>
        </p:nvSpPr>
        <p:spPr>
          <a:xfrm>
            <a:off x="7949580" y="5111874"/>
            <a:ext cx="2465040" cy="718096"/>
          </a:xfrm>
          <a:prstGeom prst="rect">
            <a:avLst/>
          </a:prstGeom>
          <a:noFill/>
          <a:ln/>
        </p:spPr>
        <p:txBody>
          <a:bodyPr wrap="square" lIns="25400" tIns="25400" rIns="25400" bIns="25400" rtlCol="0" anchor="t">
            <a:normAutofit/>
          </a:bodyPr>
          <a:lstStyle/>
          <a:p>
            <a:pPr algn="l" indent="0" marL="0">
              <a:lnSpc>
                <a:spcPct val="105000"/>
              </a:lnSpc>
              <a:buNone/>
            </a:pPr>
            <a:r>
              <a:rPr lang="en-US" sz="2550" spc="26" kern="0" dirty="0">
                <a:solidFill>
                  <a:srgbClr val="FFFFFF"/>
                </a:solidFill>
                <a:latin typeface="Arial" pitchFamily="34" charset="0"/>
                <a:ea typeface="Arial" pitchFamily="34" charset="-122"/>
                <a:cs typeface="Arial" pitchFamily="34" charset="-120"/>
              </a:rPr>
              <a:t>REMOTE MONITORING</a:t>
            </a:r>
            <a:endParaRPr lang="en-US" sz="2550" dirty="0"/>
          </a:p>
        </p:txBody>
      </p:sp>
      <p:sp>
        <p:nvSpPr>
          <p:cNvPr id="23" name="Text 18"/>
          <p:cNvSpPr/>
          <p:nvPr/>
        </p:nvSpPr>
        <p:spPr>
          <a:xfrm>
            <a:off x="7949580" y="6306220"/>
            <a:ext cx="2465040" cy="147429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24/7 AI-assisted detection. Unified console. Human-verified dispatch.</a:t>
            </a:r>
            <a:endParaRPr lang="en-US" sz="1950" dirty="0"/>
          </a:p>
        </p:txBody>
      </p:sp>
      <p:sp>
        <p:nvSpPr>
          <p:cNvPr id="24" name="Text 19"/>
          <p:cNvSpPr/>
          <p:nvPr/>
        </p:nvSpPr>
        <p:spPr>
          <a:xfrm>
            <a:off x="7949580" y="8696325"/>
            <a:ext cx="246504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ALWAYS ON</a:t>
            </a:r>
            <a:endParaRPr lang="en-US" sz="1800" dirty="0"/>
          </a:p>
        </p:txBody>
      </p:sp>
      <p:sp>
        <p:nvSpPr>
          <p:cNvPr id="25" name="Shape 20"/>
          <p:cNvSpPr/>
          <p:nvPr/>
        </p:nvSpPr>
        <p:spPr>
          <a:xfrm>
            <a:off x="10881345" y="3083049"/>
            <a:ext cx="3017565" cy="6346701"/>
          </a:xfrm>
          <a:prstGeom prst="rect">
            <a:avLst/>
          </a:prstGeom>
          <a:solidFill>
            <a:srgbClr val="141416"/>
          </a:solidFill>
          <a:ln w="9525">
            <a:solidFill>
              <a:srgbClr val="2A2A2F"/>
            </a:solidFill>
            <a:prstDash val="solid"/>
          </a:ln>
        </p:spPr>
      </p:sp>
      <p:pic>
        <p:nvPicPr>
          <p:cNvPr id="26" name="Image 3" descr="preencoded.png">    </p:cNvPr>
          <p:cNvPicPr>
            <a:picLocks noChangeAspect="1"/>
          </p:cNvPicPr>
          <p:nvPr/>
        </p:nvPicPr>
        <p:blipFill>
          <a:blip r:embed="rId4"/>
          <a:stretch>
            <a:fillRect/>
          </a:stretch>
        </p:blipFill>
        <p:spPr>
          <a:xfrm>
            <a:off x="11195670" y="3473574"/>
            <a:ext cx="762000" cy="762000"/>
          </a:xfrm>
          <a:prstGeom prst="rect">
            <a:avLst/>
          </a:prstGeom>
        </p:spPr>
      </p:pic>
      <p:sp>
        <p:nvSpPr>
          <p:cNvPr id="27" name="Text 21"/>
          <p:cNvSpPr/>
          <p:nvPr/>
        </p:nvSpPr>
        <p:spPr>
          <a:xfrm>
            <a:off x="11195670" y="4502274"/>
            <a:ext cx="24651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EP</a:t>
            </a:r>
            <a:endParaRPr lang="en-US" sz="1800" dirty="0"/>
          </a:p>
        </p:txBody>
      </p:sp>
      <p:sp>
        <p:nvSpPr>
          <p:cNvPr id="28" name="Text 22"/>
          <p:cNvSpPr/>
          <p:nvPr/>
        </p:nvSpPr>
        <p:spPr>
          <a:xfrm>
            <a:off x="11195670" y="5111874"/>
            <a:ext cx="2465115" cy="718096"/>
          </a:xfrm>
          <a:prstGeom prst="rect">
            <a:avLst/>
          </a:prstGeom>
          <a:noFill/>
          <a:ln/>
        </p:spPr>
        <p:txBody>
          <a:bodyPr wrap="square" lIns="25400" tIns="25400" rIns="25400" bIns="25400" rtlCol="0" anchor="t">
            <a:normAutofit/>
          </a:bodyPr>
          <a:lstStyle/>
          <a:p>
            <a:pPr algn="l" indent="0" marL="0">
              <a:lnSpc>
                <a:spcPct val="105000"/>
              </a:lnSpc>
              <a:buNone/>
            </a:pPr>
            <a:r>
              <a:rPr lang="en-US" sz="2550" spc="26" kern="0" dirty="0">
                <a:solidFill>
                  <a:srgbClr val="FFFFFF"/>
                </a:solidFill>
                <a:latin typeface="Arial" pitchFamily="34" charset="0"/>
                <a:ea typeface="Arial" pitchFamily="34" charset="-122"/>
                <a:cs typeface="Arial" pitchFamily="34" charset="-120"/>
              </a:rPr>
              <a:t>EXECUTIVE PROTECTION</a:t>
            </a:r>
            <a:endParaRPr lang="en-US" sz="2550" dirty="0"/>
          </a:p>
        </p:txBody>
      </p:sp>
      <p:sp>
        <p:nvSpPr>
          <p:cNvPr id="29" name="Text 23"/>
          <p:cNvSpPr/>
          <p:nvPr/>
        </p:nvSpPr>
        <p:spPr>
          <a:xfrm>
            <a:off x="11195670" y="6306220"/>
            <a:ext cx="2465115" cy="147429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Discreet, low-profile details. Integrated with command oversight.</a:t>
            </a:r>
            <a:endParaRPr lang="en-US" sz="1950" dirty="0"/>
          </a:p>
        </p:txBody>
      </p:sp>
      <p:sp>
        <p:nvSpPr>
          <p:cNvPr id="30" name="Text 24"/>
          <p:cNvSpPr/>
          <p:nvPr/>
        </p:nvSpPr>
        <p:spPr>
          <a:xfrm>
            <a:off x="11195670" y="8696325"/>
            <a:ext cx="24651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PRINCIPAL-FIRST</a:t>
            </a:r>
            <a:endParaRPr lang="en-US" sz="1800" dirty="0"/>
          </a:p>
        </p:txBody>
      </p:sp>
      <p:sp>
        <p:nvSpPr>
          <p:cNvPr id="31" name="Shape 25"/>
          <p:cNvSpPr/>
          <p:nvPr/>
        </p:nvSpPr>
        <p:spPr>
          <a:xfrm>
            <a:off x="14127510" y="3083049"/>
            <a:ext cx="3017490" cy="6346701"/>
          </a:xfrm>
          <a:prstGeom prst="rect">
            <a:avLst/>
          </a:prstGeom>
          <a:solidFill>
            <a:srgbClr val="141416"/>
          </a:solidFill>
          <a:ln w="9525">
            <a:solidFill>
              <a:srgbClr val="2A2A2F"/>
            </a:solidFill>
            <a:prstDash val="solid"/>
          </a:ln>
        </p:spPr>
      </p:sp>
      <p:pic>
        <p:nvPicPr>
          <p:cNvPr id="32" name="Image 4" descr="preencoded.png">    </p:cNvPr>
          <p:cNvPicPr>
            <a:picLocks noChangeAspect="1"/>
          </p:cNvPicPr>
          <p:nvPr/>
        </p:nvPicPr>
        <p:blipFill>
          <a:blip r:embed="rId5"/>
          <a:stretch>
            <a:fillRect/>
          </a:stretch>
        </p:blipFill>
        <p:spPr>
          <a:xfrm>
            <a:off x="14441835" y="3473574"/>
            <a:ext cx="762000" cy="762000"/>
          </a:xfrm>
          <a:prstGeom prst="rect">
            <a:avLst/>
          </a:prstGeom>
        </p:spPr>
      </p:pic>
      <p:sp>
        <p:nvSpPr>
          <p:cNvPr id="33" name="Text 26"/>
          <p:cNvSpPr/>
          <p:nvPr/>
        </p:nvSpPr>
        <p:spPr>
          <a:xfrm>
            <a:off x="14441835" y="4502274"/>
            <a:ext cx="246504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T&amp;C</a:t>
            </a:r>
            <a:endParaRPr lang="en-US" sz="1800" dirty="0"/>
          </a:p>
        </p:txBody>
      </p:sp>
      <p:sp>
        <p:nvSpPr>
          <p:cNvPr id="34" name="Text 27"/>
          <p:cNvSpPr/>
          <p:nvPr/>
        </p:nvSpPr>
        <p:spPr>
          <a:xfrm>
            <a:off x="14441835" y="5111874"/>
            <a:ext cx="2465040" cy="718096"/>
          </a:xfrm>
          <a:prstGeom prst="rect">
            <a:avLst/>
          </a:prstGeom>
          <a:noFill/>
          <a:ln/>
        </p:spPr>
        <p:txBody>
          <a:bodyPr wrap="square" lIns="25400" tIns="25400" rIns="25400" bIns="25400" rtlCol="0" anchor="t">
            <a:normAutofit/>
          </a:bodyPr>
          <a:lstStyle/>
          <a:p>
            <a:pPr algn="l" indent="0" marL="0">
              <a:lnSpc>
                <a:spcPct val="105000"/>
              </a:lnSpc>
              <a:buNone/>
            </a:pPr>
            <a:r>
              <a:rPr lang="en-US" sz="2550" spc="26" kern="0" dirty="0">
                <a:solidFill>
                  <a:srgbClr val="FFFFFF"/>
                </a:solidFill>
                <a:latin typeface="Arial" pitchFamily="34" charset="0"/>
                <a:ea typeface="Arial" pitchFamily="34" charset="-122"/>
                <a:cs typeface="Arial" pitchFamily="34" charset="-120"/>
              </a:rPr>
              <a:t>TRAINING &amp; CONSULTING</a:t>
            </a:r>
            <a:endParaRPr lang="en-US" sz="2550" dirty="0"/>
          </a:p>
        </p:txBody>
      </p:sp>
      <p:sp>
        <p:nvSpPr>
          <p:cNvPr id="35" name="Text 28"/>
          <p:cNvSpPr/>
          <p:nvPr/>
        </p:nvSpPr>
        <p:spPr>
          <a:xfrm>
            <a:off x="14441835" y="6306220"/>
            <a:ext cx="2465040" cy="1833339"/>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SOP design, scenario training, compliance advisory. Our standard, your team.</a:t>
            </a:r>
            <a:endParaRPr lang="en-US" sz="1950" dirty="0"/>
          </a:p>
        </p:txBody>
      </p:sp>
      <p:sp>
        <p:nvSpPr>
          <p:cNvPr id="36" name="Text 29"/>
          <p:cNvSpPr/>
          <p:nvPr/>
        </p:nvSpPr>
        <p:spPr>
          <a:xfrm>
            <a:off x="14441835" y="8696325"/>
            <a:ext cx="246504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STANDARDS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757053" y="419100"/>
            <a:ext cx="2464147"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08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PLATFORM</a:t>
            </a:r>
            <a:endParaRPr lang="en-US" sz="1800" dirty="0"/>
          </a:p>
        </p:txBody>
      </p:sp>
      <p:sp>
        <p:nvSpPr>
          <p:cNvPr id="5" name="Text 3"/>
          <p:cNvSpPr/>
          <p:nvPr/>
        </p:nvSpPr>
        <p:spPr>
          <a:xfrm>
            <a:off x="1143000" y="1047750"/>
            <a:ext cx="706374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COMMAND PLATFORM</a:t>
            </a:r>
            <a:endParaRPr lang="en-US" sz="1800" dirty="0"/>
          </a:p>
        </p:txBody>
      </p:sp>
      <p:sp>
        <p:nvSpPr>
          <p:cNvPr id="6" name="Text 4"/>
          <p:cNvSpPr/>
          <p:nvPr/>
        </p:nvSpPr>
        <p:spPr>
          <a:xfrm>
            <a:off x="1143000" y="2038350"/>
            <a:ext cx="7063740" cy="2369641"/>
          </a:xfrm>
          <a:prstGeom prst="rect">
            <a:avLst/>
          </a:prstGeom>
          <a:noFill/>
          <a:ln/>
        </p:spPr>
        <p:txBody>
          <a:bodyPr wrap="square" lIns="25400" tIns="25400" rIns="25400" bIns="25400" rtlCol="0" anchor="t">
            <a:normAutofit/>
          </a:bodyPr>
          <a:lstStyle/>
          <a:p>
            <a:pPr algn="l" indent="0" marL="0">
              <a:lnSpc>
                <a:spcPct val="102000"/>
              </a:lnSpc>
              <a:buNone/>
            </a:pPr>
            <a:r>
              <a:rPr lang="en-US" sz="6000" b="1" spc="-30" kern="0" dirty="0">
                <a:solidFill>
                  <a:srgbClr val="FFFFFF"/>
                </a:solidFill>
                <a:latin typeface="Arial" pitchFamily="34" charset="0"/>
                <a:ea typeface="Arial" pitchFamily="34" charset="-122"/>
                <a:cs typeface="Arial" pitchFamily="34" charset="-120"/>
              </a:rPr>
              <a:t>ONE SCREEN. EVERY ASSET. </a:t>
            </a:r>
            <a:pPr algn="l" indent="0" marL="0">
              <a:lnSpc>
                <a:spcPct val="102000"/>
              </a:lnSpc>
              <a:buNone/>
            </a:pPr>
            <a:r>
              <a:rPr lang="en-US" sz="6000" b="1" spc="-30" kern="0" dirty="0">
                <a:solidFill>
                  <a:srgbClr val="C8102E"/>
                </a:solidFill>
                <a:latin typeface="Arial" pitchFamily="34" charset="0"/>
                <a:ea typeface="Arial" pitchFamily="34" charset="-122"/>
                <a:cs typeface="Arial" pitchFamily="34" charset="-120"/>
              </a:rPr>
              <a:t>EVERY ANSWER.</a:t>
            </a:r>
            <a:endParaRPr lang="en-US" sz="6000" dirty="0"/>
          </a:p>
        </p:txBody>
      </p:sp>
      <p:sp>
        <p:nvSpPr>
          <p:cNvPr id="7" name="Text 5"/>
          <p:cNvSpPr/>
          <p:nvPr/>
        </p:nvSpPr>
        <p:spPr>
          <a:xfrm>
            <a:off x="1143000" y="4750891"/>
            <a:ext cx="7063740" cy="1300981"/>
          </a:xfrm>
          <a:prstGeom prst="rect">
            <a:avLst/>
          </a:prstGeom>
          <a:noFill/>
          <a:ln/>
        </p:spPr>
        <p:txBody>
          <a:bodyPr wrap="square" lIns="25400" tIns="25400" rIns="25400" bIns="25400" rtlCol="0" anchor="t">
            <a:normAutofit/>
          </a:bodyPr>
          <a:lstStyle/>
          <a:p>
            <a:pPr algn="l" indent="0" marL="0">
              <a:lnSpc>
                <a:spcPct val="130000"/>
              </a:lnSpc>
              <a:buNone/>
            </a:pPr>
            <a:r>
              <a:rPr lang="en-US" sz="2550" spc="-13" kern="0" dirty="0">
                <a:solidFill>
                  <a:srgbClr val="D4D4D8"/>
                </a:solidFill>
                <a:latin typeface="Arial" pitchFamily="34" charset="0"/>
                <a:ea typeface="Arial" pitchFamily="34" charset="-122"/>
                <a:cs typeface="Arial" pitchFamily="34" charset="-120"/>
              </a:rPr>
              <a:t>AI detects, a human verifies, the closest asset dispatches. Built on Next.js + Rust with row-level tenant isolation at the database.</a:t>
            </a:r>
            <a:endParaRPr lang="en-US" sz="2550" dirty="0"/>
          </a:p>
        </p:txBody>
      </p:sp>
      <p:sp>
        <p:nvSpPr>
          <p:cNvPr id="8" name="Text 6"/>
          <p:cNvSpPr/>
          <p:nvPr/>
        </p:nvSpPr>
        <p:spPr>
          <a:xfrm>
            <a:off x="1143000" y="6547172"/>
            <a:ext cx="1237952" cy="838200"/>
          </a:xfrm>
          <a:prstGeom prst="rect">
            <a:avLst/>
          </a:prstGeom>
          <a:noFill/>
          <a:ln/>
        </p:spPr>
        <p:txBody>
          <a:bodyPr wrap="square" lIns="25400" tIns="25400" rIns="25400" bIns="25400" rtlCol="0" anchor="t">
            <a:normAutofit/>
          </a:bodyPr>
          <a:lstStyle/>
          <a:p>
            <a:pPr algn="l" indent="0" marL="0">
              <a:lnSpc>
                <a:spcPct val="100000"/>
              </a:lnSpc>
              <a:buNone/>
            </a:pPr>
            <a:r>
              <a:rPr lang="en-US" sz="6300" b="1" spc="-126" kern="0" dirty="0">
                <a:solidFill>
                  <a:srgbClr val="C8102E"/>
                </a:solidFill>
                <a:latin typeface="Arial" pitchFamily="34" charset="0"/>
                <a:ea typeface="Arial" pitchFamily="34" charset="-122"/>
                <a:cs typeface="Arial" pitchFamily="34" charset="-120"/>
              </a:rPr>
              <a:t>90s</a:t>
            </a:r>
            <a:endParaRPr lang="en-US" sz="6300" dirty="0"/>
          </a:p>
        </p:txBody>
      </p:sp>
      <p:sp>
        <p:nvSpPr>
          <p:cNvPr id="9" name="Text 7"/>
          <p:cNvSpPr/>
          <p:nvPr/>
        </p:nvSpPr>
        <p:spPr>
          <a:xfrm>
            <a:off x="2457152" y="7042472"/>
            <a:ext cx="2693817"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Median alert-to-eyes-on</a:t>
            </a:r>
            <a:endParaRPr lang="en-US" sz="1950" dirty="0"/>
          </a:p>
        </p:txBody>
      </p:sp>
      <p:sp>
        <p:nvSpPr>
          <p:cNvPr id="10" name="Text 8"/>
          <p:cNvSpPr/>
          <p:nvPr/>
        </p:nvSpPr>
        <p:spPr>
          <a:xfrm>
            <a:off x="1143000" y="7553920"/>
            <a:ext cx="2608585" cy="838200"/>
          </a:xfrm>
          <a:prstGeom prst="rect">
            <a:avLst/>
          </a:prstGeom>
          <a:noFill/>
          <a:ln/>
        </p:spPr>
        <p:txBody>
          <a:bodyPr wrap="square" lIns="25400" tIns="25400" rIns="25400" bIns="25400" rtlCol="0" anchor="t">
            <a:normAutofit/>
          </a:bodyPr>
          <a:lstStyle/>
          <a:p>
            <a:pPr algn="l" indent="0" marL="0">
              <a:lnSpc>
                <a:spcPct val="100000"/>
              </a:lnSpc>
              <a:buNone/>
            </a:pPr>
            <a:r>
              <a:rPr lang="en-US" sz="6300" b="1" spc="-126" kern="0" dirty="0">
                <a:solidFill>
                  <a:srgbClr val="FFFFFF"/>
                </a:solidFill>
                <a:latin typeface="Arial" pitchFamily="34" charset="0"/>
                <a:ea typeface="Arial" pitchFamily="34" charset="-122"/>
                <a:cs typeface="Arial" pitchFamily="34" charset="-120"/>
              </a:rPr>
              <a:t>99.97%</a:t>
            </a:r>
            <a:endParaRPr lang="en-US" sz="6300" dirty="0"/>
          </a:p>
        </p:txBody>
      </p:sp>
      <p:sp>
        <p:nvSpPr>
          <p:cNvPr id="11" name="Text 9"/>
          <p:cNvSpPr/>
          <p:nvPr/>
        </p:nvSpPr>
        <p:spPr>
          <a:xfrm>
            <a:off x="3827785" y="8049220"/>
            <a:ext cx="3586442"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Platform uptime · US-GovCloud</a:t>
            </a:r>
            <a:endParaRPr lang="en-US" sz="1950" dirty="0"/>
          </a:p>
        </p:txBody>
      </p:sp>
      <p:sp>
        <p:nvSpPr>
          <p:cNvPr id="12" name="Text 10"/>
          <p:cNvSpPr/>
          <p:nvPr/>
        </p:nvSpPr>
        <p:spPr>
          <a:xfrm>
            <a:off x="1143000" y="8560668"/>
            <a:ext cx="1561281" cy="1638300"/>
          </a:xfrm>
          <a:prstGeom prst="rect">
            <a:avLst/>
          </a:prstGeom>
          <a:noFill/>
          <a:ln/>
        </p:spPr>
        <p:txBody>
          <a:bodyPr wrap="square" lIns="25400" tIns="25400" rIns="25400" bIns="25400" rtlCol="0" anchor="t">
            <a:normAutofit/>
          </a:bodyPr>
          <a:lstStyle/>
          <a:p>
            <a:pPr algn="l" indent="0" marL="0">
              <a:lnSpc>
                <a:spcPct val="100000"/>
              </a:lnSpc>
              <a:buNone/>
            </a:pPr>
            <a:r>
              <a:rPr lang="en-US" sz="6300" b="1" spc="-126" kern="0" dirty="0">
                <a:solidFill>
                  <a:srgbClr val="FFFFFF"/>
                </a:solidFill>
                <a:latin typeface="Arial" pitchFamily="34" charset="0"/>
                <a:ea typeface="Arial" pitchFamily="34" charset="-122"/>
                <a:cs typeface="Arial" pitchFamily="34" charset="-120"/>
              </a:rPr>
              <a:t>1 of 1</a:t>
            </a:r>
            <a:endParaRPr lang="en-US" sz="6300" dirty="0"/>
          </a:p>
        </p:txBody>
      </p:sp>
      <p:sp>
        <p:nvSpPr>
          <p:cNvPr id="13" name="Text 11"/>
          <p:cNvSpPr/>
          <p:nvPr/>
        </p:nvSpPr>
        <p:spPr>
          <a:xfrm>
            <a:off x="2780481" y="9055968"/>
            <a:ext cx="5377134"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D4D4D8"/>
                </a:solidFill>
                <a:latin typeface="Arial" pitchFamily="34" charset="0"/>
                <a:ea typeface="Arial" pitchFamily="34" charset="-122"/>
                <a:cs typeface="Arial" pitchFamily="34" charset="-120"/>
              </a:rPr>
              <a:t>Integrated human + autonomous system in market</a:t>
            </a:r>
            <a:endParaRPr lang="en-US" sz="1950" dirty="0"/>
          </a:p>
        </p:txBody>
      </p:sp>
      <p:sp>
        <p:nvSpPr>
          <p:cNvPr id="14" name="Shape 12"/>
          <p:cNvSpPr/>
          <p:nvPr/>
        </p:nvSpPr>
        <p:spPr>
          <a:xfrm>
            <a:off x="8763000" y="1951434"/>
            <a:ext cx="8382000" cy="6896100"/>
          </a:xfrm>
          <a:prstGeom prst="roundRect">
            <a:avLst>
              <a:gd name="adj" fmla="val 1105"/>
            </a:avLst>
          </a:prstGeom>
          <a:solidFill>
            <a:srgbClr val="0A0A0B"/>
          </a:solidFill>
          <a:ln w="9525">
            <a:solidFill>
              <a:srgbClr val="2A2A2F"/>
            </a:solidFill>
            <a:prstDash val="solid"/>
          </a:ln>
        </p:spPr>
      </p:sp>
      <p:sp>
        <p:nvSpPr>
          <p:cNvPr id="15" name="Shape 13"/>
          <p:cNvSpPr/>
          <p:nvPr/>
        </p:nvSpPr>
        <p:spPr>
          <a:xfrm>
            <a:off x="8772525" y="2722959"/>
            <a:ext cx="8362950" cy="9525"/>
          </a:xfrm>
          <a:prstGeom prst="rect">
            <a:avLst/>
          </a:prstGeom>
          <a:solidFill>
            <a:srgbClr val="2A2A2F"/>
          </a:solidFill>
          <a:ln/>
        </p:spPr>
      </p:sp>
      <p:sp>
        <p:nvSpPr>
          <p:cNvPr id="16" name="Shape 14"/>
          <p:cNvSpPr/>
          <p:nvPr/>
        </p:nvSpPr>
        <p:spPr>
          <a:xfrm>
            <a:off x="8943975" y="2294334"/>
            <a:ext cx="95250" cy="95250"/>
          </a:xfrm>
          <a:prstGeom prst="ellipse">
            <a:avLst/>
          </a:prstGeom>
          <a:solidFill>
            <a:srgbClr val="C8102E"/>
          </a:solidFill>
          <a:ln/>
        </p:spPr>
      </p:sp>
      <p:sp>
        <p:nvSpPr>
          <p:cNvPr id="17" name="Shape 15"/>
          <p:cNvSpPr/>
          <p:nvPr/>
        </p:nvSpPr>
        <p:spPr>
          <a:xfrm>
            <a:off x="9115425" y="2294334"/>
            <a:ext cx="95250" cy="95250"/>
          </a:xfrm>
          <a:prstGeom prst="ellipse">
            <a:avLst/>
          </a:prstGeom>
          <a:solidFill>
            <a:srgbClr val="2A2A2F"/>
          </a:solidFill>
          <a:ln/>
        </p:spPr>
      </p:sp>
      <p:sp>
        <p:nvSpPr>
          <p:cNvPr id="18" name="Shape 16"/>
          <p:cNvSpPr/>
          <p:nvPr/>
        </p:nvSpPr>
        <p:spPr>
          <a:xfrm>
            <a:off x="9286875" y="2294334"/>
            <a:ext cx="95250" cy="95250"/>
          </a:xfrm>
          <a:prstGeom prst="ellipse">
            <a:avLst/>
          </a:prstGeom>
          <a:solidFill>
            <a:srgbClr val="2A2A2F"/>
          </a:solidFill>
          <a:ln/>
        </p:spPr>
      </p:sp>
      <p:sp>
        <p:nvSpPr>
          <p:cNvPr id="19" name="Text 17"/>
          <p:cNvSpPr/>
          <p:nvPr/>
        </p:nvSpPr>
        <p:spPr>
          <a:xfrm>
            <a:off x="9534525" y="2241947"/>
            <a:ext cx="329694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9A9AA3"/>
                </a:solidFill>
                <a:latin typeface="Courier New" pitchFamily="34" charset="0"/>
                <a:ea typeface="Courier New" pitchFamily="34" charset="-122"/>
                <a:cs typeface="Courier New" pitchFamily="34" charset="-120"/>
              </a:rPr>
              <a:t>DXD.OS · OPERATIONS · DISTRICT 14 · LIVE</a:t>
            </a:r>
            <a:endParaRPr lang="en-US" sz="1050" dirty="0"/>
          </a:p>
        </p:txBody>
      </p:sp>
      <p:sp>
        <p:nvSpPr>
          <p:cNvPr id="20" name="Shape 18"/>
          <p:cNvSpPr/>
          <p:nvPr/>
        </p:nvSpPr>
        <p:spPr>
          <a:xfrm>
            <a:off x="15485343" y="2094309"/>
            <a:ext cx="1478682" cy="495300"/>
          </a:xfrm>
          <a:prstGeom prst="roundRect">
            <a:avLst>
              <a:gd name="adj" fmla="val 50000"/>
            </a:avLst>
          </a:prstGeom>
          <a:ln w="9525">
            <a:solidFill>
              <a:srgbClr val="C8102E"/>
            </a:solidFill>
            <a:prstDash val="solid"/>
          </a:ln>
        </p:spPr>
      </p:sp>
      <p:sp>
        <p:nvSpPr>
          <p:cNvPr id="21" name="Shape 19"/>
          <p:cNvSpPr/>
          <p:nvPr/>
        </p:nvSpPr>
        <p:spPr>
          <a:xfrm>
            <a:off x="15685368" y="2313384"/>
            <a:ext cx="57150" cy="57150"/>
          </a:xfrm>
          <a:prstGeom prst="ellipse">
            <a:avLst/>
          </a:prstGeom>
          <a:solidFill>
            <a:srgbClr val="C8102E"/>
          </a:solidFill>
          <a:ln/>
          <a:effectLst>
            <a:outerShdw sx="100000" sy="100000" kx="0" ky="0" algn="bl" rotWithShape="0" blurRad="101600" dist="50800" dir="16200000">
              <a:srgbClr val="C8102E">
                <a:alpha val="25000"/>
              </a:srgbClr>
            </a:outerShdw>
          </a:effectLst>
        </p:spPr>
      </p:sp>
      <p:sp>
        <p:nvSpPr>
          <p:cNvPr id="22" name="Text 20"/>
          <p:cNvSpPr/>
          <p:nvPr/>
        </p:nvSpPr>
        <p:spPr>
          <a:xfrm>
            <a:off x="15837768" y="2199084"/>
            <a:ext cx="1002432" cy="323850"/>
          </a:xfrm>
          <a:prstGeom prst="rect">
            <a:avLst/>
          </a:prstGeom>
          <a:noFill/>
          <a:ln/>
        </p:spPr>
        <p:txBody>
          <a:bodyPr wrap="square" lIns="0" tIns="0" rIns="0" bIns="0" rtlCol="0" anchor="t">
            <a:normAutofit/>
          </a:bodyPr>
          <a:lstStyle/>
          <a:p>
            <a:pPr algn="l" indent="0" marL="0">
              <a:lnSpc>
                <a:spcPct val="150000"/>
              </a:lnSpc>
              <a:buNone/>
            </a:pPr>
            <a:r>
              <a:rPr lang="en-US" sz="1500" spc="240" kern="0" dirty="0">
                <a:solidFill>
                  <a:srgbClr val="C8102E"/>
                </a:solidFill>
                <a:latin typeface="Arial" pitchFamily="34" charset="0"/>
                <a:ea typeface="Arial" pitchFamily="34" charset="-122"/>
                <a:cs typeface="Arial" pitchFamily="34" charset="-120"/>
              </a:rPr>
              <a:t>3 ALERTS</a:t>
            </a:r>
            <a:endParaRPr lang="en-US" sz="1500" dirty="0"/>
          </a:p>
        </p:txBody>
      </p:sp>
      <p:sp>
        <p:nvSpPr>
          <p:cNvPr id="23" name="Shape 21"/>
          <p:cNvSpPr/>
          <p:nvPr/>
        </p:nvSpPr>
        <p:spPr>
          <a:xfrm>
            <a:off x="8772525" y="2732484"/>
            <a:ext cx="8362950" cy="5143500"/>
          </a:xfrm>
          <a:prstGeom prst="rect">
            <a:avLst/>
          </a:prstGeom>
          <a:solidFill>
            <a:srgbClr val="0F0F12"/>
          </a:solidFill>
          <a:ln/>
        </p:spPr>
      </p:sp>
      <p:sp>
        <p:nvSpPr>
          <p:cNvPr id="24" name="Shape 22"/>
          <p:cNvSpPr/>
          <p:nvPr/>
        </p:nvSpPr>
        <p:spPr>
          <a:xfrm>
            <a:off x="10946829" y="4481215"/>
            <a:ext cx="171450" cy="171450"/>
          </a:xfrm>
          <a:prstGeom prst="ellipse">
            <a:avLst/>
          </a:prstGeom>
          <a:solidFill>
            <a:srgbClr val="2563EB"/>
          </a:solidFill>
          <a:ln/>
          <a:effectLst>
            <a:outerShdw sx="100000" sy="100000" kx="0" ky="0" algn="bl" rotWithShape="0" blurRad="101600" dist="50800" dir="16200000">
              <a:srgbClr val="2563EB">
                <a:alpha val="20000"/>
              </a:srgbClr>
            </a:outerShdw>
          </a:effectLst>
        </p:spPr>
      </p:sp>
      <p:sp>
        <p:nvSpPr>
          <p:cNvPr id="25" name="Text 23"/>
          <p:cNvSpPr/>
          <p:nvPr/>
        </p:nvSpPr>
        <p:spPr>
          <a:xfrm>
            <a:off x="10946829" y="4690765"/>
            <a:ext cx="1105123"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2563EB"/>
                </a:solidFill>
                <a:latin typeface="Courier New" pitchFamily="34" charset="0"/>
                <a:ea typeface="Courier New" pitchFamily="34" charset="-122"/>
                <a:cs typeface="Courier New" pitchFamily="34" charset="-120"/>
              </a:rPr>
              <a:t>DRN-014 · 42kts</a:t>
            </a:r>
            <a:endParaRPr lang="en-US" sz="900" dirty="0"/>
          </a:p>
        </p:txBody>
      </p:sp>
      <p:sp>
        <p:nvSpPr>
          <p:cNvPr id="26" name="Shape 24"/>
          <p:cNvSpPr/>
          <p:nvPr/>
        </p:nvSpPr>
        <p:spPr>
          <a:xfrm>
            <a:off x="13957548" y="5715670"/>
            <a:ext cx="171450" cy="171450"/>
          </a:xfrm>
          <a:prstGeom prst="ellipse">
            <a:avLst/>
          </a:prstGeom>
          <a:solidFill>
            <a:srgbClr val="2563EB"/>
          </a:solidFill>
          <a:ln/>
          <a:effectLst>
            <a:outerShdw sx="100000" sy="100000" kx="0" ky="0" algn="bl" rotWithShape="0" blurRad="101600" dist="50800" dir="16200000">
              <a:srgbClr val="2563EB">
                <a:alpha val="20000"/>
              </a:srgbClr>
            </a:outerShdw>
          </a:effectLst>
        </p:spPr>
      </p:sp>
      <p:sp>
        <p:nvSpPr>
          <p:cNvPr id="27" name="Text 25"/>
          <p:cNvSpPr/>
          <p:nvPr/>
        </p:nvSpPr>
        <p:spPr>
          <a:xfrm>
            <a:off x="13957548" y="5925220"/>
            <a:ext cx="1105123"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2563EB"/>
                </a:solidFill>
                <a:latin typeface="Courier New" pitchFamily="34" charset="0"/>
                <a:ea typeface="Courier New" pitchFamily="34" charset="-122"/>
                <a:cs typeface="Courier New" pitchFamily="34" charset="-120"/>
              </a:rPr>
              <a:t>DRN-031 · 51kts</a:t>
            </a:r>
            <a:endParaRPr lang="en-US" sz="900" dirty="0"/>
          </a:p>
        </p:txBody>
      </p:sp>
      <p:sp>
        <p:nvSpPr>
          <p:cNvPr id="28" name="Shape 26"/>
          <p:cNvSpPr/>
          <p:nvPr/>
        </p:nvSpPr>
        <p:spPr>
          <a:xfrm rot="2700000">
            <a:off x="12452152" y="5201320"/>
            <a:ext cx="133350" cy="133350"/>
          </a:xfrm>
          <a:prstGeom prst="rect">
            <a:avLst/>
          </a:prstGeom>
          <a:solidFill>
            <a:srgbClr val="2F9E44"/>
          </a:solidFill>
          <a:ln/>
          <a:effectLst>
            <a:outerShdw sx="100000" sy="100000" kx="0" ky="0" algn="bl" rotWithShape="0" blurRad="101600" dist="50800" dir="16200000">
              <a:srgbClr val="2F9E44">
                <a:alpha val="22000"/>
              </a:srgbClr>
            </a:outerShdw>
          </a:effectLst>
        </p:spPr>
      </p:sp>
      <p:sp>
        <p:nvSpPr>
          <p:cNvPr id="29" name="Text 27"/>
          <p:cNvSpPr/>
          <p:nvPr/>
        </p:nvSpPr>
        <p:spPr>
          <a:xfrm>
            <a:off x="12452152" y="5410870"/>
            <a:ext cx="1105123"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2F9E44"/>
                </a:solidFill>
                <a:latin typeface="Courier New" pitchFamily="34" charset="0"/>
                <a:ea typeface="Courier New" pitchFamily="34" charset="-122"/>
                <a:cs typeface="Courier New" pitchFamily="34" charset="-120"/>
              </a:rPr>
              <a:t>OFC-7 · ON POST</a:t>
            </a:r>
            <a:endParaRPr lang="en-US" sz="900" dirty="0"/>
          </a:p>
        </p:txBody>
      </p:sp>
      <p:sp>
        <p:nvSpPr>
          <p:cNvPr id="30" name="Shape 28"/>
          <p:cNvSpPr/>
          <p:nvPr/>
        </p:nvSpPr>
        <p:spPr>
          <a:xfrm rot="2700000">
            <a:off x="14793813" y="4172620"/>
            <a:ext cx="133350" cy="133350"/>
          </a:xfrm>
          <a:prstGeom prst="rect">
            <a:avLst/>
          </a:prstGeom>
          <a:solidFill>
            <a:srgbClr val="2F9E44"/>
          </a:solidFill>
          <a:ln/>
          <a:effectLst>
            <a:outerShdw sx="100000" sy="100000" kx="0" ky="0" algn="bl" rotWithShape="0" blurRad="101600" dist="50800" dir="16200000">
              <a:srgbClr val="2F9E44">
                <a:alpha val="22000"/>
              </a:srgbClr>
            </a:outerShdw>
          </a:effectLst>
        </p:spPr>
      </p:sp>
      <p:sp>
        <p:nvSpPr>
          <p:cNvPr id="31" name="Text 29"/>
          <p:cNvSpPr/>
          <p:nvPr/>
        </p:nvSpPr>
        <p:spPr>
          <a:xfrm>
            <a:off x="14793813" y="4382170"/>
            <a:ext cx="487784"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2F9E44"/>
                </a:solidFill>
                <a:latin typeface="Courier New" pitchFamily="34" charset="0"/>
                <a:ea typeface="Courier New" pitchFamily="34" charset="-122"/>
                <a:cs typeface="Courier New" pitchFamily="34" charset="-120"/>
              </a:rPr>
              <a:t>OFC-22</a:t>
            </a:r>
            <a:endParaRPr lang="en-US" sz="900" dirty="0"/>
          </a:p>
        </p:txBody>
      </p:sp>
      <p:sp>
        <p:nvSpPr>
          <p:cNvPr id="32" name="Shape 30"/>
          <p:cNvSpPr/>
          <p:nvPr/>
        </p:nvSpPr>
        <p:spPr>
          <a:xfrm>
            <a:off x="13288491" y="4892725"/>
            <a:ext cx="266700" cy="266700"/>
          </a:xfrm>
          <a:prstGeom prst="ellipse">
            <a:avLst/>
          </a:prstGeom>
          <a:solidFill>
            <a:srgbClr val="C8102E"/>
          </a:solidFill>
          <a:ln/>
          <a:effectLst>
            <a:outerShdw sx="100000" sy="100000" kx="0" ky="0" algn="bl" rotWithShape="0" blurRad="101600" dist="50800" dir="16200000">
              <a:srgbClr val="C8102E">
                <a:alpha val="25000"/>
              </a:srgbClr>
            </a:outerShdw>
          </a:effectLst>
        </p:spPr>
      </p:sp>
      <p:sp>
        <p:nvSpPr>
          <p:cNvPr id="33" name="Text 31"/>
          <p:cNvSpPr/>
          <p:nvPr/>
        </p:nvSpPr>
        <p:spPr>
          <a:xfrm>
            <a:off x="13288491" y="5216575"/>
            <a:ext cx="1636440"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b="1" dirty="0">
                <a:solidFill>
                  <a:srgbClr val="C8102E"/>
                </a:solidFill>
                <a:latin typeface="Courier New" pitchFamily="34" charset="0"/>
                <a:ea typeface="Courier New" pitchFamily="34" charset="-122"/>
                <a:cs typeface="Courier New" pitchFamily="34" charset="-120"/>
              </a:rPr>
              <a:t>THREAT-LVL2 · N-ENTRY</a:t>
            </a:r>
            <a:endParaRPr lang="en-US" sz="975" dirty="0"/>
          </a:p>
        </p:txBody>
      </p:sp>
      <p:pic>
        <p:nvPicPr>
          <p:cNvPr id="34" name="Image 0" descr="preencoded.png">    </p:cNvPr>
          <p:cNvPicPr>
            <a:picLocks noChangeAspect="1"/>
          </p:cNvPicPr>
          <p:nvPr/>
        </p:nvPicPr>
        <p:blipFill>
          <a:blip r:embed="rId1"/>
          <a:stretch>
            <a:fillRect/>
          </a:stretch>
        </p:blipFill>
        <p:spPr>
          <a:xfrm>
            <a:off x="8772525" y="2732484"/>
            <a:ext cx="8362950" cy="5143500"/>
          </a:xfrm>
          <a:prstGeom prst="rect">
            <a:avLst/>
          </a:prstGeom>
        </p:spPr>
      </p:pic>
      <p:sp>
        <p:nvSpPr>
          <p:cNvPr id="35" name="Shape 32"/>
          <p:cNvSpPr/>
          <p:nvPr/>
        </p:nvSpPr>
        <p:spPr>
          <a:xfrm>
            <a:off x="8772525" y="7875984"/>
            <a:ext cx="8362950" cy="9525"/>
          </a:xfrm>
          <a:prstGeom prst="rect">
            <a:avLst/>
          </a:prstGeom>
          <a:solidFill>
            <a:srgbClr val="2A2A2F"/>
          </a:solidFill>
          <a:ln/>
        </p:spPr>
      </p:sp>
      <p:sp>
        <p:nvSpPr>
          <p:cNvPr id="36" name="Text 33"/>
          <p:cNvSpPr/>
          <p:nvPr/>
        </p:nvSpPr>
        <p:spPr>
          <a:xfrm>
            <a:off x="8943975" y="8018859"/>
            <a:ext cx="4382416"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 03:42:18 · N-ENTRY · PERSON · UNCLASSIFIED</a:t>
            </a:r>
            <a:endParaRPr lang="en-US" sz="1800" dirty="0"/>
          </a:p>
        </p:txBody>
      </p:sp>
      <p:sp>
        <p:nvSpPr>
          <p:cNvPr id="37" name="Text 34"/>
          <p:cNvSpPr/>
          <p:nvPr/>
        </p:nvSpPr>
        <p:spPr>
          <a:xfrm>
            <a:off x="13389248" y="8018859"/>
            <a:ext cx="2590205"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DISPATCH → DRN-031 + OFC-7</a:t>
            </a:r>
            <a:endParaRPr lang="en-US" sz="1800" dirty="0"/>
          </a:p>
        </p:txBody>
      </p:sp>
      <p:sp>
        <p:nvSpPr>
          <p:cNvPr id="38" name="Text 35"/>
          <p:cNvSpPr/>
          <p:nvPr/>
        </p:nvSpPr>
        <p:spPr>
          <a:xfrm>
            <a:off x="16093753" y="8018859"/>
            <a:ext cx="94647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F9E44"/>
                </a:solidFill>
                <a:latin typeface="Courier New" pitchFamily="34" charset="0"/>
                <a:ea typeface="Courier New" pitchFamily="34" charset="-122"/>
                <a:cs typeface="Courier New" pitchFamily="34" charset="-120"/>
              </a:rPr>
              <a:t>ETA 00:47</a:t>
            </a:r>
            <a:endParaRPr lang="en-US" sz="1800" dirty="0"/>
          </a:p>
        </p:txBody>
      </p:sp>
      <p:sp>
        <p:nvSpPr>
          <p:cNvPr id="39" name="Text 36"/>
          <p:cNvSpPr/>
          <p:nvPr/>
        </p:nvSpPr>
        <p:spPr>
          <a:xfrm>
            <a:off x="8763000" y="9057084"/>
            <a:ext cx="8633460"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6B6B73"/>
                </a:solidFill>
                <a:latin typeface="Courier New" pitchFamily="34" charset="0"/>
                <a:ea typeface="Courier New" pitchFamily="34" charset="-122"/>
                <a:cs typeface="Courier New" pitchFamily="34" charset="-120"/>
              </a:rPr>
              <a:t>REPRESENTATIVE UI · NOT REAL-CLIENT DATA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3917811" y="419100"/>
            <a:ext cx="332400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09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DIFFERENTIATION</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WHY WE WIN</a:t>
            </a:r>
            <a:endParaRPr lang="en-US" sz="1800" dirty="0"/>
          </a:p>
        </p:txBody>
      </p:sp>
      <p:sp>
        <p:nvSpPr>
          <p:cNvPr id="6" name="Text 4"/>
          <p:cNvSpPr/>
          <p:nvPr/>
        </p:nvSpPr>
        <p:spPr>
          <a:xfrm>
            <a:off x="1143000" y="1657350"/>
            <a:ext cx="16482060"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ONLY ONE PLAYER OWNS THE FULL STACK.</a:t>
            </a:r>
            <a:endParaRPr lang="en-US" sz="6300" dirty="0"/>
          </a:p>
        </p:txBody>
      </p:sp>
      <p:sp>
        <p:nvSpPr>
          <p:cNvPr id="7" name="Shape 5"/>
          <p:cNvSpPr/>
          <p:nvPr/>
        </p:nvSpPr>
        <p:spPr>
          <a:xfrm>
            <a:off x="1143000" y="3956298"/>
            <a:ext cx="16002000" cy="5781675"/>
          </a:xfrm>
          <a:prstGeom prst="rect">
            <a:avLst/>
          </a:prstGeom>
          <a:ln w="9525">
            <a:solidFill>
              <a:srgbClr val="2A2A2F"/>
            </a:solidFill>
            <a:prstDash val="solid"/>
          </a:ln>
        </p:spPr>
      </p:sp>
      <p:sp>
        <p:nvSpPr>
          <p:cNvPr id="8" name="Shape 6"/>
          <p:cNvSpPr/>
          <p:nvPr/>
        </p:nvSpPr>
        <p:spPr>
          <a:xfrm>
            <a:off x="1152525" y="3965823"/>
            <a:ext cx="5085457" cy="1247775"/>
          </a:xfrm>
          <a:prstGeom prst="rect">
            <a:avLst/>
          </a:prstGeom>
          <a:solidFill>
            <a:srgbClr val="141416"/>
          </a:solidFill>
          <a:ln/>
        </p:spPr>
      </p:sp>
      <p:sp>
        <p:nvSpPr>
          <p:cNvPr id="9" name="Shape 7"/>
          <p:cNvSpPr/>
          <p:nvPr/>
        </p:nvSpPr>
        <p:spPr>
          <a:xfrm>
            <a:off x="1152525" y="5204073"/>
            <a:ext cx="5085457" cy="9525"/>
          </a:xfrm>
          <a:prstGeom prst="rect">
            <a:avLst/>
          </a:prstGeom>
          <a:solidFill>
            <a:srgbClr val="2A2A2F"/>
          </a:solidFill>
          <a:ln/>
        </p:spPr>
      </p:sp>
      <p:sp>
        <p:nvSpPr>
          <p:cNvPr id="10" name="Shape 8"/>
          <p:cNvSpPr/>
          <p:nvPr/>
        </p:nvSpPr>
        <p:spPr>
          <a:xfrm>
            <a:off x="6228457" y="3965823"/>
            <a:ext cx="9525" cy="1247775"/>
          </a:xfrm>
          <a:prstGeom prst="rect">
            <a:avLst/>
          </a:prstGeom>
          <a:solidFill>
            <a:srgbClr val="2A2A2F"/>
          </a:solidFill>
          <a:ln/>
        </p:spPr>
      </p:sp>
      <p:sp>
        <p:nvSpPr>
          <p:cNvPr id="11" name="Shape 9"/>
          <p:cNvSpPr/>
          <p:nvPr/>
        </p:nvSpPr>
        <p:spPr>
          <a:xfrm>
            <a:off x="6237982" y="3965823"/>
            <a:ext cx="3632448" cy="1247775"/>
          </a:xfrm>
          <a:prstGeom prst="rect">
            <a:avLst/>
          </a:prstGeom>
          <a:solidFill>
            <a:srgbClr val="141416"/>
          </a:solidFill>
          <a:ln/>
        </p:spPr>
      </p:sp>
      <p:sp>
        <p:nvSpPr>
          <p:cNvPr id="12" name="Shape 10"/>
          <p:cNvSpPr/>
          <p:nvPr/>
        </p:nvSpPr>
        <p:spPr>
          <a:xfrm>
            <a:off x="6237982" y="5204073"/>
            <a:ext cx="3632448" cy="9525"/>
          </a:xfrm>
          <a:prstGeom prst="rect">
            <a:avLst/>
          </a:prstGeom>
          <a:solidFill>
            <a:srgbClr val="2A2A2F"/>
          </a:solidFill>
          <a:ln/>
        </p:spPr>
      </p:sp>
      <p:sp>
        <p:nvSpPr>
          <p:cNvPr id="13" name="Shape 11"/>
          <p:cNvSpPr/>
          <p:nvPr/>
        </p:nvSpPr>
        <p:spPr>
          <a:xfrm>
            <a:off x="9860905" y="3965823"/>
            <a:ext cx="9525" cy="1247775"/>
          </a:xfrm>
          <a:prstGeom prst="rect">
            <a:avLst/>
          </a:prstGeom>
          <a:solidFill>
            <a:srgbClr val="2A2A2F"/>
          </a:solidFill>
          <a:ln/>
        </p:spPr>
      </p:sp>
      <p:sp>
        <p:nvSpPr>
          <p:cNvPr id="14" name="Text 12"/>
          <p:cNvSpPr/>
          <p:nvPr/>
        </p:nvSpPr>
        <p:spPr>
          <a:xfrm>
            <a:off x="6542782" y="4194423"/>
            <a:ext cx="310372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DOD · HARDWARE</a:t>
            </a:r>
            <a:endParaRPr lang="en-US" sz="1200" dirty="0"/>
          </a:p>
        </p:txBody>
      </p:sp>
      <p:sp>
        <p:nvSpPr>
          <p:cNvPr id="15" name="Text 13"/>
          <p:cNvSpPr/>
          <p:nvPr/>
        </p:nvSpPr>
        <p:spPr>
          <a:xfrm>
            <a:off x="6542782" y="4461123"/>
            <a:ext cx="3103723" cy="552450"/>
          </a:xfrm>
          <a:prstGeom prst="rect">
            <a:avLst/>
          </a:prstGeom>
          <a:noFill/>
          <a:ln/>
        </p:spPr>
        <p:txBody>
          <a:bodyPr wrap="square" lIns="25400" tIns="25400" rIns="25400" bIns="25400" rtlCol="0" anchor="t">
            <a:normAutofit/>
          </a:bodyPr>
          <a:lstStyle/>
          <a:p>
            <a:pPr algn="l" indent="0" marL="0">
              <a:lnSpc>
                <a:spcPct val="150000"/>
              </a:lnSpc>
              <a:buNone/>
            </a:pPr>
            <a:r>
              <a:rPr lang="en-US" sz="2700" dirty="0">
                <a:solidFill>
                  <a:srgbClr val="FFFFFF"/>
                </a:solidFill>
                <a:latin typeface="Arial" pitchFamily="34" charset="0"/>
                <a:ea typeface="Arial" pitchFamily="34" charset="-122"/>
                <a:cs typeface="Arial" pitchFamily="34" charset="-120"/>
              </a:rPr>
              <a:t>ANDURIL</a:t>
            </a:r>
            <a:endParaRPr lang="en-US" sz="2700" dirty="0"/>
          </a:p>
        </p:txBody>
      </p:sp>
      <p:sp>
        <p:nvSpPr>
          <p:cNvPr id="16" name="Shape 14"/>
          <p:cNvSpPr/>
          <p:nvPr/>
        </p:nvSpPr>
        <p:spPr>
          <a:xfrm>
            <a:off x="9870430" y="3965823"/>
            <a:ext cx="3632522" cy="1247775"/>
          </a:xfrm>
          <a:prstGeom prst="rect">
            <a:avLst/>
          </a:prstGeom>
          <a:solidFill>
            <a:srgbClr val="141416"/>
          </a:solidFill>
          <a:ln/>
        </p:spPr>
      </p:sp>
      <p:sp>
        <p:nvSpPr>
          <p:cNvPr id="17" name="Shape 15"/>
          <p:cNvSpPr/>
          <p:nvPr/>
        </p:nvSpPr>
        <p:spPr>
          <a:xfrm>
            <a:off x="9870430" y="5204073"/>
            <a:ext cx="3632522" cy="9525"/>
          </a:xfrm>
          <a:prstGeom prst="rect">
            <a:avLst/>
          </a:prstGeom>
          <a:solidFill>
            <a:srgbClr val="2A2A2F"/>
          </a:solidFill>
          <a:ln/>
        </p:spPr>
      </p:sp>
      <p:sp>
        <p:nvSpPr>
          <p:cNvPr id="18" name="Shape 16"/>
          <p:cNvSpPr/>
          <p:nvPr/>
        </p:nvSpPr>
        <p:spPr>
          <a:xfrm>
            <a:off x="13493428" y="3965823"/>
            <a:ext cx="9525" cy="1247775"/>
          </a:xfrm>
          <a:prstGeom prst="rect">
            <a:avLst/>
          </a:prstGeom>
          <a:solidFill>
            <a:srgbClr val="2A2A2F"/>
          </a:solidFill>
          <a:ln/>
        </p:spPr>
      </p:sp>
      <p:sp>
        <p:nvSpPr>
          <p:cNvPr id="19" name="Text 17"/>
          <p:cNvSpPr/>
          <p:nvPr/>
        </p:nvSpPr>
        <p:spPr>
          <a:xfrm>
            <a:off x="10175230" y="4194423"/>
            <a:ext cx="3103799"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B6B73"/>
                </a:solidFill>
                <a:latin typeface="Courier New" pitchFamily="34" charset="0"/>
                <a:ea typeface="Courier New" pitchFamily="34" charset="-122"/>
                <a:cs typeface="Courier New" pitchFamily="34" charset="-120"/>
              </a:rPr>
              <a:t>ENTERPRISE SAAS</a:t>
            </a:r>
            <a:endParaRPr lang="en-US" sz="1200" dirty="0"/>
          </a:p>
        </p:txBody>
      </p:sp>
      <p:sp>
        <p:nvSpPr>
          <p:cNvPr id="20" name="Text 18"/>
          <p:cNvSpPr/>
          <p:nvPr/>
        </p:nvSpPr>
        <p:spPr>
          <a:xfrm>
            <a:off x="10175230" y="4461123"/>
            <a:ext cx="3103799" cy="552450"/>
          </a:xfrm>
          <a:prstGeom prst="rect">
            <a:avLst/>
          </a:prstGeom>
          <a:noFill/>
          <a:ln/>
        </p:spPr>
        <p:txBody>
          <a:bodyPr wrap="square" lIns="25400" tIns="25400" rIns="25400" bIns="25400" rtlCol="0" anchor="t">
            <a:normAutofit/>
          </a:bodyPr>
          <a:lstStyle/>
          <a:p>
            <a:pPr algn="l" indent="0" marL="0">
              <a:lnSpc>
                <a:spcPct val="150000"/>
              </a:lnSpc>
              <a:buNone/>
            </a:pPr>
            <a:r>
              <a:rPr lang="en-US" sz="2700" dirty="0">
                <a:solidFill>
                  <a:srgbClr val="FFFFFF"/>
                </a:solidFill>
                <a:latin typeface="Arial" pitchFamily="34" charset="0"/>
                <a:ea typeface="Arial" pitchFamily="34" charset="-122"/>
                <a:cs typeface="Arial" pitchFamily="34" charset="-120"/>
              </a:rPr>
              <a:t>ORCIST</a:t>
            </a:r>
            <a:endParaRPr lang="en-US" sz="2700" dirty="0"/>
          </a:p>
        </p:txBody>
      </p:sp>
      <p:sp>
        <p:nvSpPr>
          <p:cNvPr id="21" name="Shape 19"/>
          <p:cNvSpPr/>
          <p:nvPr/>
        </p:nvSpPr>
        <p:spPr>
          <a:xfrm>
            <a:off x="13502953" y="3965823"/>
            <a:ext cx="3632448" cy="1247775"/>
          </a:xfrm>
          <a:prstGeom prst="rect">
            <a:avLst/>
          </a:prstGeom>
          <a:solidFill>
            <a:srgbClr val="C8102E">
              <a:alpha val="10000"/>
            </a:srgbClr>
          </a:solidFill>
          <a:ln/>
        </p:spPr>
      </p:sp>
      <p:sp>
        <p:nvSpPr>
          <p:cNvPr id="22" name="Shape 20"/>
          <p:cNvSpPr/>
          <p:nvPr/>
        </p:nvSpPr>
        <p:spPr>
          <a:xfrm>
            <a:off x="13502953" y="5204073"/>
            <a:ext cx="3632448" cy="9525"/>
          </a:xfrm>
          <a:prstGeom prst="rect">
            <a:avLst/>
          </a:prstGeom>
          <a:solidFill>
            <a:srgbClr val="C8102E"/>
          </a:solidFill>
          <a:ln/>
        </p:spPr>
      </p:sp>
      <p:sp>
        <p:nvSpPr>
          <p:cNvPr id="23" name="Text 21"/>
          <p:cNvSpPr/>
          <p:nvPr/>
        </p:nvSpPr>
        <p:spPr>
          <a:xfrm>
            <a:off x="13807753" y="4194423"/>
            <a:ext cx="311353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102E"/>
                </a:solidFill>
                <a:latin typeface="Courier New" pitchFamily="34" charset="0"/>
                <a:ea typeface="Courier New" pitchFamily="34" charset="-122"/>
                <a:cs typeface="Courier New" pitchFamily="34" charset="-120"/>
              </a:rPr>
              <a:t>UNIFIED STACK</a:t>
            </a:r>
            <a:endParaRPr lang="en-US" sz="1200" dirty="0"/>
          </a:p>
        </p:txBody>
      </p:sp>
      <p:sp>
        <p:nvSpPr>
          <p:cNvPr id="24" name="Text 22"/>
          <p:cNvSpPr/>
          <p:nvPr/>
        </p:nvSpPr>
        <p:spPr>
          <a:xfrm>
            <a:off x="13807753" y="4461123"/>
            <a:ext cx="3113533" cy="552450"/>
          </a:xfrm>
          <a:prstGeom prst="rect">
            <a:avLst/>
          </a:prstGeom>
          <a:noFill/>
          <a:ln/>
        </p:spPr>
        <p:txBody>
          <a:bodyPr wrap="square" lIns="25400" tIns="25400" rIns="25400" bIns="25400" rtlCol="0" anchor="t">
            <a:normAutofit/>
          </a:bodyPr>
          <a:lstStyle/>
          <a:p>
            <a:pPr algn="l" indent="0" marL="0">
              <a:lnSpc>
                <a:spcPct val="150000"/>
              </a:lnSpc>
              <a:buNone/>
            </a:pPr>
            <a:r>
              <a:rPr lang="en-US" sz="2700" dirty="0">
                <a:solidFill>
                  <a:srgbClr val="C8102E"/>
                </a:solidFill>
                <a:latin typeface="Arial" pitchFamily="34" charset="0"/>
                <a:ea typeface="Arial" pitchFamily="34" charset="-122"/>
                <a:cs typeface="Arial" pitchFamily="34" charset="-120"/>
              </a:rPr>
              <a:t>DEUS X</a:t>
            </a:r>
            <a:endParaRPr lang="en-US" sz="2700" dirty="0"/>
          </a:p>
        </p:txBody>
      </p:sp>
      <p:sp>
        <p:nvSpPr>
          <p:cNvPr id="25" name="Shape 23"/>
          <p:cNvSpPr/>
          <p:nvPr/>
        </p:nvSpPr>
        <p:spPr>
          <a:xfrm>
            <a:off x="1152525" y="6108948"/>
            <a:ext cx="5085457" cy="9525"/>
          </a:xfrm>
          <a:prstGeom prst="rect">
            <a:avLst/>
          </a:prstGeom>
          <a:solidFill>
            <a:srgbClr val="2A2A2F"/>
          </a:solidFill>
          <a:ln/>
        </p:spPr>
      </p:sp>
      <p:sp>
        <p:nvSpPr>
          <p:cNvPr id="26" name="Shape 24"/>
          <p:cNvSpPr/>
          <p:nvPr/>
        </p:nvSpPr>
        <p:spPr>
          <a:xfrm>
            <a:off x="6228457" y="5213598"/>
            <a:ext cx="9525" cy="904875"/>
          </a:xfrm>
          <a:prstGeom prst="rect">
            <a:avLst/>
          </a:prstGeom>
          <a:solidFill>
            <a:srgbClr val="2A2A2F"/>
          </a:solidFill>
          <a:ln/>
        </p:spPr>
      </p:sp>
      <p:sp>
        <p:nvSpPr>
          <p:cNvPr id="27" name="Text 25"/>
          <p:cNvSpPr/>
          <p:nvPr/>
        </p:nvSpPr>
        <p:spPr>
          <a:xfrm>
            <a:off x="1457325" y="5461248"/>
            <a:ext cx="4618896" cy="43815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Autonomous drone fleet</a:t>
            </a:r>
            <a:endParaRPr lang="en-US" sz="1800" dirty="0"/>
          </a:p>
        </p:txBody>
      </p:sp>
      <p:sp>
        <p:nvSpPr>
          <p:cNvPr id="28" name="Shape 26"/>
          <p:cNvSpPr/>
          <p:nvPr/>
        </p:nvSpPr>
        <p:spPr>
          <a:xfrm>
            <a:off x="6237982" y="6108948"/>
            <a:ext cx="3632448" cy="9525"/>
          </a:xfrm>
          <a:prstGeom prst="rect">
            <a:avLst/>
          </a:prstGeom>
          <a:solidFill>
            <a:srgbClr val="2A2A2F"/>
          </a:solidFill>
          <a:ln/>
        </p:spPr>
      </p:sp>
      <p:sp>
        <p:nvSpPr>
          <p:cNvPr id="29" name="Shape 27"/>
          <p:cNvSpPr/>
          <p:nvPr/>
        </p:nvSpPr>
        <p:spPr>
          <a:xfrm>
            <a:off x="9860905" y="5213598"/>
            <a:ext cx="9525" cy="904875"/>
          </a:xfrm>
          <a:prstGeom prst="rect">
            <a:avLst/>
          </a:prstGeom>
          <a:solidFill>
            <a:srgbClr val="2A2A2F"/>
          </a:solidFill>
          <a:ln/>
        </p:spPr>
      </p:sp>
      <p:sp>
        <p:nvSpPr>
          <p:cNvPr id="30" name="Text 28"/>
          <p:cNvSpPr/>
          <p:nvPr/>
        </p:nvSpPr>
        <p:spPr>
          <a:xfrm>
            <a:off x="6542782" y="5461248"/>
            <a:ext cx="312229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F9E44"/>
                </a:solidFill>
                <a:latin typeface="Arial" pitchFamily="34" charset="0"/>
                <a:ea typeface="Arial" pitchFamily="34" charset="-122"/>
                <a:cs typeface="Arial" pitchFamily="34" charset="-120"/>
              </a:rPr>
              <a:t>●</a:t>
            </a:r>
            <a:endParaRPr lang="en-US" sz="2100" dirty="0"/>
          </a:p>
        </p:txBody>
      </p:sp>
      <p:sp>
        <p:nvSpPr>
          <p:cNvPr id="31" name="Shape 29"/>
          <p:cNvSpPr/>
          <p:nvPr/>
        </p:nvSpPr>
        <p:spPr>
          <a:xfrm>
            <a:off x="9870430" y="6108948"/>
            <a:ext cx="3632522" cy="9525"/>
          </a:xfrm>
          <a:prstGeom prst="rect">
            <a:avLst/>
          </a:prstGeom>
          <a:solidFill>
            <a:srgbClr val="2A2A2F"/>
          </a:solidFill>
          <a:ln/>
        </p:spPr>
      </p:sp>
      <p:sp>
        <p:nvSpPr>
          <p:cNvPr id="32" name="Shape 30"/>
          <p:cNvSpPr/>
          <p:nvPr/>
        </p:nvSpPr>
        <p:spPr>
          <a:xfrm>
            <a:off x="13493428" y="5213598"/>
            <a:ext cx="9525" cy="904875"/>
          </a:xfrm>
          <a:prstGeom prst="rect">
            <a:avLst/>
          </a:prstGeom>
          <a:solidFill>
            <a:srgbClr val="2A2A2F"/>
          </a:solidFill>
          <a:ln/>
        </p:spPr>
      </p:sp>
      <p:sp>
        <p:nvSpPr>
          <p:cNvPr id="33" name="Text 31"/>
          <p:cNvSpPr/>
          <p:nvPr/>
        </p:nvSpPr>
        <p:spPr>
          <a:xfrm>
            <a:off x="10175230" y="5461248"/>
            <a:ext cx="3122373"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B73"/>
                </a:solidFill>
                <a:latin typeface="Arial" pitchFamily="34" charset="0"/>
                <a:ea typeface="Arial" pitchFamily="34" charset="-122"/>
                <a:cs typeface="Arial" pitchFamily="34" charset="-120"/>
              </a:rPr>
              <a:t>○</a:t>
            </a:r>
            <a:endParaRPr lang="en-US" sz="2100" dirty="0"/>
          </a:p>
        </p:txBody>
      </p:sp>
      <p:sp>
        <p:nvSpPr>
          <p:cNvPr id="34" name="Shape 32"/>
          <p:cNvSpPr/>
          <p:nvPr/>
        </p:nvSpPr>
        <p:spPr>
          <a:xfrm>
            <a:off x="13502953" y="6108948"/>
            <a:ext cx="3632448" cy="9525"/>
          </a:xfrm>
          <a:prstGeom prst="rect">
            <a:avLst/>
          </a:prstGeom>
          <a:solidFill>
            <a:srgbClr val="C8102E"/>
          </a:solidFill>
          <a:ln/>
        </p:spPr>
      </p:sp>
      <p:sp>
        <p:nvSpPr>
          <p:cNvPr id="35" name="Text 33"/>
          <p:cNvSpPr/>
          <p:nvPr/>
        </p:nvSpPr>
        <p:spPr>
          <a:xfrm>
            <a:off x="13807753" y="5461248"/>
            <a:ext cx="313182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8102E"/>
                </a:solidFill>
                <a:latin typeface="Arial" pitchFamily="34" charset="0"/>
                <a:ea typeface="Arial" pitchFamily="34" charset="-122"/>
                <a:cs typeface="Arial" pitchFamily="34" charset="-120"/>
              </a:rPr>
              <a:t>●</a:t>
            </a:r>
            <a:endParaRPr lang="en-US" sz="2100" dirty="0"/>
          </a:p>
        </p:txBody>
      </p:sp>
      <p:sp>
        <p:nvSpPr>
          <p:cNvPr id="36" name="Shape 34"/>
          <p:cNvSpPr/>
          <p:nvPr/>
        </p:nvSpPr>
        <p:spPr>
          <a:xfrm>
            <a:off x="1152525" y="7013823"/>
            <a:ext cx="5085457" cy="9525"/>
          </a:xfrm>
          <a:prstGeom prst="rect">
            <a:avLst/>
          </a:prstGeom>
          <a:solidFill>
            <a:srgbClr val="2A2A2F"/>
          </a:solidFill>
          <a:ln/>
        </p:spPr>
      </p:sp>
      <p:sp>
        <p:nvSpPr>
          <p:cNvPr id="37" name="Shape 35"/>
          <p:cNvSpPr/>
          <p:nvPr/>
        </p:nvSpPr>
        <p:spPr>
          <a:xfrm>
            <a:off x="6228457" y="6118473"/>
            <a:ext cx="9525" cy="904875"/>
          </a:xfrm>
          <a:prstGeom prst="rect">
            <a:avLst/>
          </a:prstGeom>
          <a:solidFill>
            <a:srgbClr val="2A2A2F"/>
          </a:solidFill>
          <a:ln/>
        </p:spPr>
      </p:sp>
      <p:sp>
        <p:nvSpPr>
          <p:cNvPr id="38" name="Text 36"/>
          <p:cNvSpPr/>
          <p:nvPr/>
        </p:nvSpPr>
        <p:spPr>
          <a:xfrm>
            <a:off x="1457325" y="6366123"/>
            <a:ext cx="4618896" cy="43815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Human operators in-house</a:t>
            </a:r>
            <a:endParaRPr lang="en-US" sz="1800" dirty="0"/>
          </a:p>
        </p:txBody>
      </p:sp>
      <p:sp>
        <p:nvSpPr>
          <p:cNvPr id="39" name="Shape 37"/>
          <p:cNvSpPr/>
          <p:nvPr/>
        </p:nvSpPr>
        <p:spPr>
          <a:xfrm>
            <a:off x="6237982" y="7013823"/>
            <a:ext cx="3632448" cy="9525"/>
          </a:xfrm>
          <a:prstGeom prst="rect">
            <a:avLst/>
          </a:prstGeom>
          <a:solidFill>
            <a:srgbClr val="2A2A2F"/>
          </a:solidFill>
          <a:ln/>
        </p:spPr>
      </p:sp>
      <p:sp>
        <p:nvSpPr>
          <p:cNvPr id="40" name="Shape 38"/>
          <p:cNvSpPr/>
          <p:nvPr/>
        </p:nvSpPr>
        <p:spPr>
          <a:xfrm>
            <a:off x="9860905" y="6118473"/>
            <a:ext cx="9525" cy="904875"/>
          </a:xfrm>
          <a:prstGeom prst="rect">
            <a:avLst/>
          </a:prstGeom>
          <a:solidFill>
            <a:srgbClr val="2A2A2F"/>
          </a:solidFill>
          <a:ln/>
        </p:spPr>
      </p:sp>
      <p:sp>
        <p:nvSpPr>
          <p:cNvPr id="41" name="Text 39"/>
          <p:cNvSpPr/>
          <p:nvPr/>
        </p:nvSpPr>
        <p:spPr>
          <a:xfrm>
            <a:off x="6542782" y="6366123"/>
            <a:ext cx="312229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B73"/>
                </a:solidFill>
                <a:latin typeface="Arial" pitchFamily="34" charset="0"/>
                <a:ea typeface="Arial" pitchFamily="34" charset="-122"/>
                <a:cs typeface="Arial" pitchFamily="34" charset="-120"/>
              </a:rPr>
              <a:t>○</a:t>
            </a:r>
            <a:endParaRPr lang="en-US" sz="2100" dirty="0"/>
          </a:p>
        </p:txBody>
      </p:sp>
      <p:sp>
        <p:nvSpPr>
          <p:cNvPr id="42" name="Shape 40"/>
          <p:cNvSpPr/>
          <p:nvPr/>
        </p:nvSpPr>
        <p:spPr>
          <a:xfrm>
            <a:off x="9870430" y="7013823"/>
            <a:ext cx="3632522" cy="9525"/>
          </a:xfrm>
          <a:prstGeom prst="rect">
            <a:avLst/>
          </a:prstGeom>
          <a:solidFill>
            <a:srgbClr val="2A2A2F"/>
          </a:solidFill>
          <a:ln/>
        </p:spPr>
      </p:sp>
      <p:sp>
        <p:nvSpPr>
          <p:cNvPr id="43" name="Shape 41"/>
          <p:cNvSpPr/>
          <p:nvPr/>
        </p:nvSpPr>
        <p:spPr>
          <a:xfrm>
            <a:off x="13493428" y="6118473"/>
            <a:ext cx="9525" cy="904875"/>
          </a:xfrm>
          <a:prstGeom prst="rect">
            <a:avLst/>
          </a:prstGeom>
          <a:solidFill>
            <a:srgbClr val="2A2A2F"/>
          </a:solidFill>
          <a:ln/>
        </p:spPr>
      </p:sp>
      <p:sp>
        <p:nvSpPr>
          <p:cNvPr id="44" name="Text 42"/>
          <p:cNvSpPr/>
          <p:nvPr/>
        </p:nvSpPr>
        <p:spPr>
          <a:xfrm>
            <a:off x="10175230" y="6366123"/>
            <a:ext cx="3122373"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B73"/>
                </a:solidFill>
                <a:latin typeface="Arial" pitchFamily="34" charset="0"/>
                <a:ea typeface="Arial" pitchFamily="34" charset="-122"/>
                <a:cs typeface="Arial" pitchFamily="34" charset="-120"/>
              </a:rPr>
              <a:t>○</a:t>
            </a:r>
            <a:endParaRPr lang="en-US" sz="2100" dirty="0"/>
          </a:p>
        </p:txBody>
      </p:sp>
      <p:sp>
        <p:nvSpPr>
          <p:cNvPr id="45" name="Shape 43"/>
          <p:cNvSpPr/>
          <p:nvPr/>
        </p:nvSpPr>
        <p:spPr>
          <a:xfrm>
            <a:off x="13502953" y="7013823"/>
            <a:ext cx="3632448" cy="9525"/>
          </a:xfrm>
          <a:prstGeom prst="rect">
            <a:avLst/>
          </a:prstGeom>
          <a:solidFill>
            <a:srgbClr val="C8102E"/>
          </a:solidFill>
          <a:ln/>
        </p:spPr>
      </p:sp>
      <p:sp>
        <p:nvSpPr>
          <p:cNvPr id="46" name="Text 44"/>
          <p:cNvSpPr/>
          <p:nvPr/>
        </p:nvSpPr>
        <p:spPr>
          <a:xfrm>
            <a:off x="13807753" y="6366123"/>
            <a:ext cx="313182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8102E"/>
                </a:solidFill>
                <a:latin typeface="Arial" pitchFamily="34" charset="0"/>
                <a:ea typeface="Arial" pitchFamily="34" charset="-122"/>
                <a:cs typeface="Arial" pitchFamily="34" charset="-120"/>
              </a:rPr>
              <a:t>●</a:t>
            </a:r>
            <a:endParaRPr lang="en-US" sz="2100" dirty="0"/>
          </a:p>
        </p:txBody>
      </p:sp>
      <p:sp>
        <p:nvSpPr>
          <p:cNvPr id="47" name="Shape 45"/>
          <p:cNvSpPr/>
          <p:nvPr/>
        </p:nvSpPr>
        <p:spPr>
          <a:xfrm>
            <a:off x="1152525" y="7918698"/>
            <a:ext cx="5085457" cy="9525"/>
          </a:xfrm>
          <a:prstGeom prst="rect">
            <a:avLst/>
          </a:prstGeom>
          <a:solidFill>
            <a:srgbClr val="2A2A2F"/>
          </a:solidFill>
          <a:ln/>
        </p:spPr>
      </p:sp>
      <p:sp>
        <p:nvSpPr>
          <p:cNvPr id="48" name="Shape 46"/>
          <p:cNvSpPr/>
          <p:nvPr/>
        </p:nvSpPr>
        <p:spPr>
          <a:xfrm>
            <a:off x="6228457" y="7023348"/>
            <a:ext cx="9525" cy="904875"/>
          </a:xfrm>
          <a:prstGeom prst="rect">
            <a:avLst/>
          </a:prstGeom>
          <a:solidFill>
            <a:srgbClr val="2A2A2F"/>
          </a:solidFill>
          <a:ln/>
        </p:spPr>
      </p:sp>
      <p:sp>
        <p:nvSpPr>
          <p:cNvPr id="49" name="Text 47"/>
          <p:cNvSpPr/>
          <p:nvPr/>
        </p:nvSpPr>
        <p:spPr>
          <a:xfrm>
            <a:off x="1457325" y="7270998"/>
            <a:ext cx="4618896" cy="43815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Unified C3 platform</a:t>
            </a:r>
            <a:endParaRPr lang="en-US" sz="1800" dirty="0"/>
          </a:p>
        </p:txBody>
      </p:sp>
      <p:sp>
        <p:nvSpPr>
          <p:cNvPr id="50" name="Shape 48"/>
          <p:cNvSpPr/>
          <p:nvPr/>
        </p:nvSpPr>
        <p:spPr>
          <a:xfrm>
            <a:off x="6237982" y="7918698"/>
            <a:ext cx="3632448" cy="9525"/>
          </a:xfrm>
          <a:prstGeom prst="rect">
            <a:avLst/>
          </a:prstGeom>
          <a:solidFill>
            <a:srgbClr val="2A2A2F"/>
          </a:solidFill>
          <a:ln/>
        </p:spPr>
      </p:sp>
      <p:sp>
        <p:nvSpPr>
          <p:cNvPr id="51" name="Shape 49"/>
          <p:cNvSpPr/>
          <p:nvPr/>
        </p:nvSpPr>
        <p:spPr>
          <a:xfrm>
            <a:off x="9860905" y="7023348"/>
            <a:ext cx="9525" cy="904875"/>
          </a:xfrm>
          <a:prstGeom prst="rect">
            <a:avLst/>
          </a:prstGeom>
          <a:solidFill>
            <a:srgbClr val="2A2A2F"/>
          </a:solidFill>
          <a:ln/>
        </p:spPr>
      </p:sp>
      <p:sp>
        <p:nvSpPr>
          <p:cNvPr id="52" name="Text 50"/>
          <p:cNvSpPr/>
          <p:nvPr/>
        </p:nvSpPr>
        <p:spPr>
          <a:xfrm>
            <a:off x="6542782" y="7270998"/>
            <a:ext cx="312229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D97706"/>
                </a:solidFill>
                <a:latin typeface="Arial" pitchFamily="34" charset="0"/>
                <a:ea typeface="Arial" pitchFamily="34" charset="-122"/>
                <a:cs typeface="Arial" pitchFamily="34" charset="-120"/>
              </a:rPr>
              <a:t>◐</a:t>
            </a:r>
            <a:endParaRPr lang="en-US" sz="2100" dirty="0"/>
          </a:p>
        </p:txBody>
      </p:sp>
      <p:sp>
        <p:nvSpPr>
          <p:cNvPr id="53" name="Shape 51"/>
          <p:cNvSpPr/>
          <p:nvPr/>
        </p:nvSpPr>
        <p:spPr>
          <a:xfrm>
            <a:off x="9870430" y="7918698"/>
            <a:ext cx="3632522" cy="9525"/>
          </a:xfrm>
          <a:prstGeom prst="rect">
            <a:avLst/>
          </a:prstGeom>
          <a:solidFill>
            <a:srgbClr val="2A2A2F"/>
          </a:solidFill>
          <a:ln/>
        </p:spPr>
      </p:sp>
      <p:sp>
        <p:nvSpPr>
          <p:cNvPr id="54" name="Shape 52"/>
          <p:cNvSpPr/>
          <p:nvPr/>
        </p:nvSpPr>
        <p:spPr>
          <a:xfrm>
            <a:off x="13493428" y="7023348"/>
            <a:ext cx="9525" cy="904875"/>
          </a:xfrm>
          <a:prstGeom prst="rect">
            <a:avLst/>
          </a:prstGeom>
          <a:solidFill>
            <a:srgbClr val="2A2A2F"/>
          </a:solidFill>
          <a:ln/>
        </p:spPr>
      </p:sp>
      <p:sp>
        <p:nvSpPr>
          <p:cNvPr id="55" name="Text 53"/>
          <p:cNvSpPr/>
          <p:nvPr/>
        </p:nvSpPr>
        <p:spPr>
          <a:xfrm>
            <a:off x="10175230" y="7270998"/>
            <a:ext cx="3122373"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F9E44"/>
                </a:solidFill>
                <a:latin typeface="Arial" pitchFamily="34" charset="0"/>
                <a:ea typeface="Arial" pitchFamily="34" charset="-122"/>
                <a:cs typeface="Arial" pitchFamily="34" charset="-120"/>
              </a:rPr>
              <a:t>●</a:t>
            </a:r>
            <a:endParaRPr lang="en-US" sz="2100" dirty="0"/>
          </a:p>
        </p:txBody>
      </p:sp>
      <p:sp>
        <p:nvSpPr>
          <p:cNvPr id="56" name="Shape 54"/>
          <p:cNvSpPr/>
          <p:nvPr/>
        </p:nvSpPr>
        <p:spPr>
          <a:xfrm>
            <a:off x="13502953" y="7918698"/>
            <a:ext cx="3632448" cy="9525"/>
          </a:xfrm>
          <a:prstGeom prst="rect">
            <a:avLst/>
          </a:prstGeom>
          <a:solidFill>
            <a:srgbClr val="C8102E"/>
          </a:solidFill>
          <a:ln/>
        </p:spPr>
      </p:sp>
      <p:sp>
        <p:nvSpPr>
          <p:cNvPr id="57" name="Text 55"/>
          <p:cNvSpPr/>
          <p:nvPr/>
        </p:nvSpPr>
        <p:spPr>
          <a:xfrm>
            <a:off x="13807753" y="7270998"/>
            <a:ext cx="313182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8102E"/>
                </a:solidFill>
                <a:latin typeface="Arial" pitchFamily="34" charset="0"/>
                <a:ea typeface="Arial" pitchFamily="34" charset="-122"/>
                <a:cs typeface="Arial" pitchFamily="34" charset="-120"/>
              </a:rPr>
              <a:t>●</a:t>
            </a:r>
            <a:endParaRPr lang="en-US" sz="2100" dirty="0"/>
          </a:p>
        </p:txBody>
      </p:sp>
      <p:sp>
        <p:nvSpPr>
          <p:cNvPr id="58" name="Shape 56"/>
          <p:cNvSpPr/>
          <p:nvPr/>
        </p:nvSpPr>
        <p:spPr>
          <a:xfrm>
            <a:off x="1152525" y="8823573"/>
            <a:ext cx="5085457" cy="9525"/>
          </a:xfrm>
          <a:prstGeom prst="rect">
            <a:avLst/>
          </a:prstGeom>
          <a:solidFill>
            <a:srgbClr val="2A2A2F"/>
          </a:solidFill>
          <a:ln/>
        </p:spPr>
      </p:sp>
      <p:sp>
        <p:nvSpPr>
          <p:cNvPr id="59" name="Shape 57"/>
          <p:cNvSpPr/>
          <p:nvPr/>
        </p:nvSpPr>
        <p:spPr>
          <a:xfrm>
            <a:off x="6228457" y="7928223"/>
            <a:ext cx="9525" cy="904875"/>
          </a:xfrm>
          <a:prstGeom prst="rect">
            <a:avLst/>
          </a:prstGeom>
          <a:solidFill>
            <a:srgbClr val="2A2A2F"/>
          </a:solidFill>
          <a:ln/>
        </p:spPr>
      </p:sp>
      <p:sp>
        <p:nvSpPr>
          <p:cNvPr id="60" name="Text 58"/>
          <p:cNvSpPr/>
          <p:nvPr/>
        </p:nvSpPr>
        <p:spPr>
          <a:xfrm>
            <a:off x="1457325" y="8175873"/>
            <a:ext cx="4618896" cy="43815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Commercial &amp; public-safety GTM</a:t>
            </a:r>
            <a:endParaRPr lang="en-US" sz="1800" dirty="0"/>
          </a:p>
        </p:txBody>
      </p:sp>
      <p:sp>
        <p:nvSpPr>
          <p:cNvPr id="61" name="Shape 59"/>
          <p:cNvSpPr/>
          <p:nvPr/>
        </p:nvSpPr>
        <p:spPr>
          <a:xfrm>
            <a:off x="6237982" y="8823573"/>
            <a:ext cx="3632448" cy="9525"/>
          </a:xfrm>
          <a:prstGeom prst="rect">
            <a:avLst/>
          </a:prstGeom>
          <a:solidFill>
            <a:srgbClr val="2A2A2F"/>
          </a:solidFill>
          <a:ln/>
        </p:spPr>
      </p:sp>
      <p:sp>
        <p:nvSpPr>
          <p:cNvPr id="62" name="Shape 60"/>
          <p:cNvSpPr/>
          <p:nvPr/>
        </p:nvSpPr>
        <p:spPr>
          <a:xfrm>
            <a:off x="9860905" y="7928223"/>
            <a:ext cx="9525" cy="904875"/>
          </a:xfrm>
          <a:prstGeom prst="rect">
            <a:avLst/>
          </a:prstGeom>
          <a:solidFill>
            <a:srgbClr val="2A2A2F"/>
          </a:solidFill>
          <a:ln/>
        </p:spPr>
      </p:sp>
      <p:sp>
        <p:nvSpPr>
          <p:cNvPr id="63" name="Text 61"/>
          <p:cNvSpPr/>
          <p:nvPr/>
        </p:nvSpPr>
        <p:spPr>
          <a:xfrm>
            <a:off x="6542782" y="8175873"/>
            <a:ext cx="312229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B73"/>
                </a:solidFill>
                <a:latin typeface="Arial" pitchFamily="34" charset="0"/>
                <a:ea typeface="Arial" pitchFamily="34" charset="-122"/>
                <a:cs typeface="Arial" pitchFamily="34" charset="-120"/>
              </a:rPr>
              <a:t>○</a:t>
            </a:r>
            <a:endParaRPr lang="en-US" sz="2100" dirty="0"/>
          </a:p>
        </p:txBody>
      </p:sp>
      <p:sp>
        <p:nvSpPr>
          <p:cNvPr id="64" name="Shape 62"/>
          <p:cNvSpPr/>
          <p:nvPr/>
        </p:nvSpPr>
        <p:spPr>
          <a:xfrm>
            <a:off x="9870430" y="8823573"/>
            <a:ext cx="3632522" cy="9525"/>
          </a:xfrm>
          <a:prstGeom prst="rect">
            <a:avLst/>
          </a:prstGeom>
          <a:solidFill>
            <a:srgbClr val="2A2A2F"/>
          </a:solidFill>
          <a:ln/>
        </p:spPr>
      </p:sp>
      <p:sp>
        <p:nvSpPr>
          <p:cNvPr id="65" name="Shape 63"/>
          <p:cNvSpPr/>
          <p:nvPr/>
        </p:nvSpPr>
        <p:spPr>
          <a:xfrm>
            <a:off x="13493428" y="7928223"/>
            <a:ext cx="9525" cy="904875"/>
          </a:xfrm>
          <a:prstGeom prst="rect">
            <a:avLst/>
          </a:prstGeom>
          <a:solidFill>
            <a:srgbClr val="2A2A2F"/>
          </a:solidFill>
          <a:ln/>
        </p:spPr>
      </p:sp>
      <p:sp>
        <p:nvSpPr>
          <p:cNvPr id="66" name="Text 64"/>
          <p:cNvSpPr/>
          <p:nvPr/>
        </p:nvSpPr>
        <p:spPr>
          <a:xfrm>
            <a:off x="10175230" y="8175873"/>
            <a:ext cx="3122373"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F9E44"/>
                </a:solidFill>
                <a:latin typeface="Arial" pitchFamily="34" charset="0"/>
                <a:ea typeface="Arial" pitchFamily="34" charset="-122"/>
                <a:cs typeface="Arial" pitchFamily="34" charset="-120"/>
              </a:rPr>
              <a:t>●</a:t>
            </a:r>
            <a:endParaRPr lang="en-US" sz="2100" dirty="0"/>
          </a:p>
        </p:txBody>
      </p:sp>
      <p:sp>
        <p:nvSpPr>
          <p:cNvPr id="67" name="Shape 65"/>
          <p:cNvSpPr/>
          <p:nvPr/>
        </p:nvSpPr>
        <p:spPr>
          <a:xfrm>
            <a:off x="13502953" y="8823573"/>
            <a:ext cx="3632448" cy="9525"/>
          </a:xfrm>
          <a:prstGeom prst="rect">
            <a:avLst/>
          </a:prstGeom>
          <a:solidFill>
            <a:srgbClr val="C8102E"/>
          </a:solidFill>
          <a:ln/>
        </p:spPr>
      </p:sp>
      <p:sp>
        <p:nvSpPr>
          <p:cNvPr id="68" name="Text 66"/>
          <p:cNvSpPr/>
          <p:nvPr/>
        </p:nvSpPr>
        <p:spPr>
          <a:xfrm>
            <a:off x="13807753" y="8175873"/>
            <a:ext cx="313182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8102E"/>
                </a:solidFill>
                <a:latin typeface="Arial" pitchFamily="34" charset="0"/>
                <a:ea typeface="Arial" pitchFamily="34" charset="-122"/>
                <a:cs typeface="Arial" pitchFamily="34" charset="-120"/>
              </a:rPr>
              <a:t>●</a:t>
            </a:r>
            <a:endParaRPr lang="en-US" sz="2100" dirty="0"/>
          </a:p>
        </p:txBody>
      </p:sp>
      <p:sp>
        <p:nvSpPr>
          <p:cNvPr id="69" name="Shape 67"/>
          <p:cNvSpPr/>
          <p:nvPr/>
        </p:nvSpPr>
        <p:spPr>
          <a:xfrm>
            <a:off x="6228457" y="8833098"/>
            <a:ext cx="9525" cy="895350"/>
          </a:xfrm>
          <a:prstGeom prst="rect">
            <a:avLst/>
          </a:prstGeom>
          <a:solidFill>
            <a:srgbClr val="2A2A2F"/>
          </a:solidFill>
          <a:ln/>
        </p:spPr>
      </p:sp>
      <p:sp>
        <p:nvSpPr>
          <p:cNvPr id="70" name="Text 68"/>
          <p:cNvSpPr/>
          <p:nvPr/>
        </p:nvSpPr>
        <p:spPr>
          <a:xfrm>
            <a:off x="1457325" y="9080748"/>
            <a:ext cx="4618896" cy="43815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FAA waiver / NDAA compliance arm</a:t>
            </a:r>
            <a:endParaRPr lang="en-US" sz="1800" dirty="0"/>
          </a:p>
        </p:txBody>
      </p:sp>
      <p:sp>
        <p:nvSpPr>
          <p:cNvPr id="71" name="Shape 69"/>
          <p:cNvSpPr/>
          <p:nvPr/>
        </p:nvSpPr>
        <p:spPr>
          <a:xfrm>
            <a:off x="9860905" y="8833098"/>
            <a:ext cx="9525" cy="895350"/>
          </a:xfrm>
          <a:prstGeom prst="rect">
            <a:avLst/>
          </a:prstGeom>
          <a:solidFill>
            <a:srgbClr val="2A2A2F"/>
          </a:solidFill>
          <a:ln/>
        </p:spPr>
      </p:sp>
      <p:sp>
        <p:nvSpPr>
          <p:cNvPr id="72" name="Text 70"/>
          <p:cNvSpPr/>
          <p:nvPr/>
        </p:nvSpPr>
        <p:spPr>
          <a:xfrm>
            <a:off x="6542782" y="9080748"/>
            <a:ext cx="312229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D97706"/>
                </a:solidFill>
                <a:latin typeface="Arial" pitchFamily="34" charset="0"/>
                <a:ea typeface="Arial" pitchFamily="34" charset="-122"/>
                <a:cs typeface="Arial" pitchFamily="34" charset="-120"/>
              </a:rPr>
              <a:t>◐</a:t>
            </a:r>
            <a:endParaRPr lang="en-US" sz="2100" dirty="0"/>
          </a:p>
        </p:txBody>
      </p:sp>
      <p:sp>
        <p:nvSpPr>
          <p:cNvPr id="73" name="Shape 71"/>
          <p:cNvSpPr/>
          <p:nvPr/>
        </p:nvSpPr>
        <p:spPr>
          <a:xfrm>
            <a:off x="13493428" y="8833098"/>
            <a:ext cx="9525" cy="895350"/>
          </a:xfrm>
          <a:prstGeom prst="rect">
            <a:avLst/>
          </a:prstGeom>
          <a:solidFill>
            <a:srgbClr val="2A2A2F"/>
          </a:solidFill>
          <a:ln/>
        </p:spPr>
      </p:sp>
      <p:sp>
        <p:nvSpPr>
          <p:cNvPr id="74" name="Text 72"/>
          <p:cNvSpPr/>
          <p:nvPr/>
        </p:nvSpPr>
        <p:spPr>
          <a:xfrm>
            <a:off x="10175230" y="9080748"/>
            <a:ext cx="3122373"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B73"/>
                </a:solidFill>
                <a:latin typeface="Arial" pitchFamily="34" charset="0"/>
                <a:ea typeface="Arial" pitchFamily="34" charset="-122"/>
                <a:cs typeface="Arial" pitchFamily="34" charset="-120"/>
              </a:rPr>
              <a:t>○</a:t>
            </a:r>
            <a:endParaRPr lang="en-US" sz="2100" dirty="0"/>
          </a:p>
        </p:txBody>
      </p:sp>
      <p:sp>
        <p:nvSpPr>
          <p:cNvPr id="75" name="Text 73"/>
          <p:cNvSpPr/>
          <p:nvPr/>
        </p:nvSpPr>
        <p:spPr>
          <a:xfrm>
            <a:off x="13807753" y="9080748"/>
            <a:ext cx="313182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8102E"/>
                </a:solidFill>
                <a:latin typeface="Arial" pitchFamily="34" charset="0"/>
                <a:ea typeface="Arial" pitchFamily="34" charset="-122"/>
                <a:cs typeface="Arial" pitchFamily="34" charset="-120"/>
              </a:rPr>
              <a:t>●</a:t>
            </a:r>
            <a:endParaRPr lang="en-US" sz="2100" dirty="0"/>
          </a:p>
        </p:txBody>
      </p:sp>
      <p:sp>
        <p:nvSpPr>
          <p:cNvPr id="76" name="Text 74"/>
          <p:cNvSpPr/>
          <p:nvPr/>
        </p:nvSpPr>
        <p:spPr>
          <a:xfrm>
            <a:off x="1143000" y="9966573"/>
            <a:ext cx="381569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 </a:t>
            </a:r>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FULL · </a:t>
            </a:r>
            <a:pPr algn="l" indent="0" marL="0">
              <a:lnSpc>
                <a:spcPct val="150000"/>
              </a:lnSpc>
              <a:buNone/>
            </a:pPr>
            <a:r>
              <a:rPr lang="en-US" sz="1800" dirty="0">
                <a:solidFill>
                  <a:srgbClr val="D97706"/>
                </a:solidFill>
                <a:latin typeface="Courier New" pitchFamily="34" charset="0"/>
                <a:ea typeface="Courier New" pitchFamily="34" charset="-122"/>
                <a:cs typeface="Courier New" pitchFamily="34" charset="-120"/>
              </a:rPr>
              <a:t>◐ </a:t>
            </a:r>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PARTIAL · </a:t>
            </a:r>
            <a:pPr algn="l" indent="0" marL="0">
              <a:lnSpc>
                <a:spcPct val="150000"/>
              </a:lnSpc>
              <a:buNone/>
            </a:pPr>
            <a:r>
              <a:rPr lang="en-US" sz="1800" dirty="0">
                <a:solidFill>
                  <a:srgbClr val="6B6B73"/>
                </a:solidFill>
                <a:latin typeface="Courier New" pitchFamily="34" charset="0"/>
                <a:ea typeface="Courier New" pitchFamily="34" charset="-122"/>
                <a:cs typeface="Courier New" pitchFamily="34" charset="-120"/>
              </a:rPr>
              <a:t>○ </a:t>
            </a:r>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NONE</a:t>
            </a:r>
            <a:endParaRPr lang="en-US" sz="1800" dirty="0"/>
          </a:p>
        </p:txBody>
      </p:sp>
      <p:sp>
        <p:nvSpPr>
          <p:cNvPr id="77" name="Text 75"/>
          <p:cNvSpPr/>
          <p:nvPr/>
        </p:nvSpPr>
        <p:spPr>
          <a:xfrm>
            <a:off x="10560248" y="9972303"/>
            <a:ext cx="6782294"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COMPETITORS BUILD ONE LAYER. WE BUILT THE STACK.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836825" y="419100"/>
            <a:ext cx="238437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10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TRACTION</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PROACTIVE SECURITY PAYS OFF</a:t>
            </a:r>
            <a:endParaRPr lang="en-US" sz="1800" dirty="0"/>
          </a:p>
        </p:txBody>
      </p:sp>
      <p:sp>
        <p:nvSpPr>
          <p:cNvPr id="6" name="Text 4"/>
          <p:cNvSpPr/>
          <p:nvPr/>
        </p:nvSpPr>
        <p:spPr>
          <a:xfrm>
            <a:off x="1143000" y="1657350"/>
            <a:ext cx="16482060" cy="854199"/>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TRACTION.</a:t>
            </a:r>
            <a:endParaRPr lang="en-US" sz="6300" dirty="0"/>
          </a:p>
        </p:txBody>
      </p:sp>
      <p:sp>
        <p:nvSpPr>
          <p:cNvPr id="7" name="Text 5"/>
          <p:cNvSpPr/>
          <p:nvPr/>
        </p:nvSpPr>
        <p:spPr>
          <a:xfrm>
            <a:off x="1143000" y="2930649"/>
            <a:ext cx="7924250" cy="960090"/>
          </a:xfrm>
          <a:prstGeom prst="rect">
            <a:avLst/>
          </a:prstGeom>
          <a:noFill/>
          <a:ln/>
        </p:spPr>
        <p:txBody>
          <a:bodyPr wrap="square" lIns="25400" tIns="25400" rIns="25400" bIns="25400" rtlCol="0" anchor="t">
            <a:normAutofit/>
          </a:bodyPr>
          <a:lstStyle/>
          <a:p>
            <a:pPr algn="l" indent="0" marL="0">
              <a:lnSpc>
                <a:spcPct val="88000"/>
              </a:lnSpc>
              <a:buNone/>
            </a:pPr>
            <a:r>
              <a:rPr lang="en-US" sz="8250" b="1" spc="-165" kern="0" dirty="0">
                <a:solidFill>
                  <a:srgbClr val="C8102E"/>
                </a:solidFill>
                <a:latin typeface="Arial" pitchFamily="34" charset="0"/>
                <a:ea typeface="Arial" pitchFamily="34" charset="-122"/>
                <a:cs typeface="Arial" pitchFamily="34" charset="-120"/>
              </a:rPr>
              <a:t>$22M</a:t>
            </a:r>
            <a:endParaRPr lang="en-US" sz="8250" dirty="0"/>
          </a:p>
        </p:txBody>
      </p:sp>
      <p:sp>
        <p:nvSpPr>
          <p:cNvPr id="8" name="Text 6"/>
          <p:cNvSpPr/>
          <p:nvPr/>
        </p:nvSpPr>
        <p:spPr>
          <a:xfrm>
            <a:off x="1143000" y="3947889"/>
            <a:ext cx="7924250"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384" kern="0" dirty="0">
                <a:solidFill>
                  <a:srgbClr val="9A9AA3"/>
                </a:solidFill>
                <a:latin typeface="Arial" pitchFamily="34" charset="0"/>
                <a:ea typeface="Arial" pitchFamily="34" charset="-122"/>
                <a:cs typeface="Arial" pitchFamily="34" charset="-120"/>
              </a:rPr>
              <a:t>ARR · TRIPLE-DIGIT YOY</a:t>
            </a:r>
            <a:endParaRPr lang="en-US" sz="2400" dirty="0"/>
          </a:p>
        </p:txBody>
      </p:sp>
      <p:sp>
        <p:nvSpPr>
          <p:cNvPr id="9" name="Shape 7"/>
          <p:cNvSpPr/>
          <p:nvPr/>
        </p:nvSpPr>
        <p:spPr>
          <a:xfrm>
            <a:off x="1143000" y="4595589"/>
            <a:ext cx="7693447" cy="9525"/>
          </a:xfrm>
          <a:prstGeom prst="rect">
            <a:avLst/>
          </a:prstGeom>
          <a:solidFill>
            <a:srgbClr val="FFFFFF">
              <a:alpha val="12000"/>
            </a:srgbClr>
          </a:solidFill>
          <a:ln/>
        </p:spPr>
      </p:sp>
      <p:sp>
        <p:nvSpPr>
          <p:cNvPr id="10" name="Text 8"/>
          <p:cNvSpPr/>
          <p:nvPr/>
        </p:nvSpPr>
        <p:spPr>
          <a:xfrm>
            <a:off x="1143000" y="4795614"/>
            <a:ext cx="7924250" cy="960090"/>
          </a:xfrm>
          <a:prstGeom prst="rect">
            <a:avLst/>
          </a:prstGeom>
          <a:noFill/>
          <a:ln/>
        </p:spPr>
        <p:txBody>
          <a:bodyPr wrap="square" lIns="25400" tIns="25400" rIns="25400" bIns="25400" rtlCol="0" anchor="t">
            <a:normAutofit/>
          </a:bodyPr>
          <a:lstStyle/>
          <a:p>
            <a:pPr algn="l" indent="0" marL="0">
              <a:lnSpc>
                <a:spcPct val="88000"/>
              </a:lnSpc>
              <a:buNone/>
            </a:pPr>
            <a:r>
              <a:rPr lang="en-US" sz="8250" b="1" spc="-165" kern="0" dirty="0">
                <a:solidFill>
                  <a:srgbClr val="FFFFFF"/>
                </a:solidFill>
                <a:latin typeface="Arial" pitchFamily="34" charset="0"/>
                <a:ea typeface="Arial" pitchFamily="34" charset="-122"/>
                <a:cs typeface="Arial" pitchFamily="34" charset="-120"/>
              </a:rPr>
              <a:t>12</a:t>
            </a:r>
            <a:endParaRPr lang="en-US" sz="8250" dirty="0"/>
          </a:p>
        </p:txBody>
      </p:sp>
      <p:sp>
        <p:nvSpPr>
          <p:cNvPr id="11" name="Text 9"/>
          <p:cNvSpPr/>
          <p:nvPr/>
        </p:nvSpPr>
        <p:spPr>
          <a:xfrm>
            <a:off x="1143000" y="5812854"/>
            <a:ext cx="7924250"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384" kern="0" dirty="0">
                <a:solidFill>
                  <a:srgbClr val="9A9AA3"/>
                </a:solidFill>
                <a:latin typeface="Arial" pitchFamily="34" charset="0"/>
                <a:ea typeface="Arial" pitchFamily="34" charset="-122"/>
                <a:cs typeface="Arial" pitchFamily="34" charset="-120"/>
              </a:rPr>
              <a:t>METROPOLITAN MARKETS</a:t>
            </a:r>
            <a:endParaRPr lang="en-US" sz="2400" dirty="0"/>
          </a:p>
        </p:txBody>
      </p:sp>
      <p:sp>
        <p:nvSpPr>
          <p:cNvPr id="12" name="Shape 10"/>
          <p:cNvSpPr/>
          <p:nvPr/>
        </p:nvSpPr>
        <p:spPr>
          <a:xfrm>
            <a:off x="1143000" y="6460554"/>
            <a:ext cx="7693447" cy="9525"/>
          </a:xfrm>
          <a:prstGeom prst="rect">
            <a:avLst/>
          </a:prstGeom>
          <a:solidFill>
            <a:srgbClr val="FFFFFF">
              <a:alpha val="12000"/>
            </a:srgbClr>
          </a:solidFill>
          <a:ln/>
        </p:spPr>
      </p:sp>
      <p:sp>
        <p:nvSpPr>
          <p:cNvPr id="13" name="Text 11"/>
          <p:cNvSpPr/>
          <p:nvPr/>
        </p:nvSpPr>
        <p:spPr>
          <a:xfrm>
            <a:off x="1143000" y="6660579"/>
            <a:ext cx="7924250" cy="960090"/>
          </a:xfrm>
          <a:prstGeom prst="rect">
            <a:avLst/>
          </a:prstGeom>
          <a:noFill/>
          <a:ln/>
        </p:spPr>
        <p:txBody>
          <a:bodyPr wrap="square" lIns="25400" tIns="25400" rIns="25400" bIns="25400" rtlCol="0" anchor="t">
            <a:normAutofit/>
          </a:bodyPr>
          <a:lstStyle/>
          <a:p>
            <a:pPr algn="l" indent="0" marL="0">
              <a:lnSpc>
                <a:spcPct val="88000"/>
              </a:lnSpc>
              <a:buNone/>
            </a:pPr>
            <a:r>
              <a:rPr lang="en-US" sz="8250" b="1" spc="-165" kern="0" dirty="0">
                <a:solidFill>
                  <a:srgbClr val="FFFFFF"/>
                </a:solidFill>
                <a:latin typeface="Arial" pitchFamily="34" charset="0"/>
                <a:ea typeface="Arial" pitchFamily="34" charset="-122"/>
                <a:cs typeface="Arial" pitchFamily="34" charset="-120"/>
              </a:rPr>
              <a:t>14,200</a:t>
            </a:r>
            <a:endParaRPr lang="en-US" sz="8250" dirty="0"/>
          </a:p>
        </p:txBody>
      </p:sp>
      <p:sp>
        <p:nvSpPr>
          <p:cNvPr id="14" name="Text 12"/>
          <p:cNvSpPr/>
          <p:nvPr/>
        </p:nvSpPr>
        <p:spPr>
          <a:xfrm>
            <a:off x="1143000" y="7677820"/>
            <a:ext cx="7924250"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384" kern="0" dirty="0">
                <a:solidFill>
                  <a:srgbClr val="9A9AA3"/>
                </a:solidFill>
                <a:latin typeface="Arial" pitchFamily="34" charset="0"/>
                <a:ea typeface="Arial" pitchFamily="34" charset="-122"/>
                <a:cs typeface="Arial" pitchFamily="34" charset="-120"/>
              </a:rPr>
              <a:t>RESPONSE HOURS · YTD</a:t>
            </a:r>
            <a:endParaRPr lang="en-US" sz="2400" dirty="0"/>
          </a:p>
        </p:txBody>
      </p:sp>
      <p:sp>
        <p:nvSpPr>
          <p:cNvPr id="15" name="Shape 13"/>
          <p:cNvSpPr/>
          <p:nvPr/>
        </p:nvSpPr>
        <p:spPr>
          <a:xfrm>
            <a:off x="1143000" y="8325520"/>
            <a:ext cx="7693447" cy="9525"/>
          </a:xfrm>
          <a:prstGeom prst="rect">
            <a:avLst/>
          </a:prstGeom>
          <a:solidFill>
            <a:srgbClr val="FFFFFF">
              <a:alpha val="12000"/>
            </a:srgbClr>
          </a:solidFill>
          <a:ln/>
        </p:spPr>
      </p:sp>
      <p:sp>
        <p:nvSpPr>
          <p:cNvPr id="16" name="Text 14"/>
          <p:cNvSpPr/>
          <p:nvPr/>
        </p:nvSpPr>
        <p:spPr>
          <a:xfrm>
            <a:off x="1143000" y="8525545"/>
            <a:ext cx="7924250" cy="964257"/>
          </a:xfrm>
          <a:prstGeom prst="rect">
            <a:avLst/>
          </a:prstGeom>
          <a:noFill/>
          <a:ln/>
        </p:spPr>
        <p:txBody>
          <a:bodyPr wrap="square" lIns="25400" tIns="25400" rIns="25400" bIns="25400" rtlCol="0" anchor="t">
            <a:normAutofit/>
          </a:bodyPr>
          <a:lstStyle/>
          <a:p>
            <a:pPr algn="l" indent="0" marL="0">
              <a:lnSpc>
                <a:spcPct val="88000"/>
              </a:lnSpc>
              <a:buNone/>
            </a:pPr>
            <a:r>
              <a:rPr lang="en-US" sz="8250" b="1" spc="-165" kern="0" dirty="0">
                <a:solidFill>
                  <a:srgbClr val="FFFFFF"/>
                </a:solidFill>
                <a:latin typeface="Arial" pitchFamily="34" charset="0"/>
                <a:ea typeface="Arial" pitchFamily="34" charset="-122"/>
                <a:cs typeface="Arial" pitchFamily="34" charset="-120"/>
              </a:rPr>
              <a:t>138 </a:t>
            </a:r>
            <a:pPr algn="l" indent="0" marL="0">
              <a:lnSpc>
                <a:spcPct val="88000"/>
              </a:lnSpc>
              <a:buNone/>
            </a:pPr>
            <a:r>
              <a:rPr lang="en-US" sz="3600" b="1" spc="-165" kern="0" dirty="0">
                <a:solidFill>
                  <a:srgbClr val="9A9AA3"/>
                </a:solidFill>
                <a:latin typeface="Arial" pitchFamily="34" charset="0"/>
                <a:ea typeface="Arial" pitchFamily="34" charset="-122"/>
                <a:cs typeface="Arial" pitchFamily="34" charset="-120"/>
              </a:rPr>
              <a:t>%</a:t>
            </a:r>
            <a:endParaRPr lang="en-US" sz="8250" dirty="0"/>
          </a:p>
        </p:txBody>
      </p:sp>
      <p:sp>
        <p:nvSpPr>
          <p:cNvPr id="17" name="Text 15"/>
          <p:cNvSpPr/>
          <p:nvPr/>
        </p:nvSpPr>
        <p:spPr>
          <a:xfrm>
            <a:off x="1143000" y="9546952"/>
            <a:ext cx="7924250"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384" kern="0" dirty="0">
                <a:solidFill>
                  <a:srgbClr val="9A9AA3"/>
                </a:solidFill>
                <a:latin typeface="Arial" pitchFamily="34" charset="0"/>
                <a:ea typeface="Arial" pitchFamily="34" charset="-122"/>
                <a:cs typeface="Arial" pitchFamily="34" charset="-120"/>
              </a:rPr>
              <a:t>NET REVENUE RETENTION</a:t>
            </a:r>
            <a:endParaRPr lang="en-US" sz="2400" dirty="0"/>
          </a:p>
        </p:txBody>
      </p:sp>
      <p:sp>
        <p:nvSpPr>
          <p:cNvPr id="18" name="Shape 16"/>
          <p:cNvSpPr/>
          <p:nvPr/>
        </p:nvSpPr>
        <p:spPr>
          <a:xfrm>
            <a:off x="9217447" y="2930649"/>
            <a:ext cx="7927553" cy="7073503"/>
          </a:xfrm>
          <a:prstGeom prst="rect">
            <a:avLst/>
          </a:prstGeom>
          <a:solidFill>
            <a:srgbClr val="141416"/>
          </a:solidFill>
          <a:ln w="9525">
            <a:solidFill>
              <a:srgbClr val="2A2A2F"/>
            </a:solidFill>
            <a:prstDash val="solid"/>
          </a:ln>
        </p:spPr>
      </p:sp>
      <p:sp>
        <p:nvSpPr>
          <p:cNvPr id="19" name="Text 17"/>
          <p:cNvSpPr/>
          <p:nvPr/>
        </p:nvSpPr>
        <p:spPr>
          <a:xfrm>
            <a:off x="9684172" y="3397374"/>
            <a:ext cx="720392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WHO WE PROTECT TODAY</a:t>
            </a:r>
            <a:endParaRPr lang="en-US" sz="1800" dirty="0"/>
          </a:p>
        </p:txBody>
      </p:sp>
      <p:sp>
        <p:nvSpPr>
          <p:cNvPr id="20" name="Shape 18"/>
          <p:cNvSpPr/>
          <p:nvPr/>
        </p:nvSpPr>
        <p:spPr>
          <a:xfrm>
            <a:off x="9684172" y="3968874"/>
            <a:ext cx="3420814" cy="866775"/>
          </a:xfrm>
          <a:prstGeom prst="rect">
            <a:avLst/>
          </a:prstGeom>
          <a:ln w="9525">
            <a:solidFill>
              <a:srgbClr val="2A2A2F"/>
            </a:solidFill>
            <a:prstDash val="solid"/>
          </a:ln>
        </p:spPr>
      </p:sp>
      <p:sp>
        <p:nvSpPr>
          <p:cNvPr id="21" name="Text 19"/>
          <p:cNvSpPr/>
          <p:nvPr/>
        </p:nvSpPr>
        <p:spPr>
          <a:xfrm>
            <a:off x="9832884" y="4245099"/>
            <a:ext cx="3123389"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spc="198" kern="0" dirty="0">
                <a:solidFill>
                  <a:srgbClr val="D4D4D8"/>
                </a:solidFill>
                <a:latin typeface="Arial" pitchFamily="34" charset="0"/>
                <a:ea typeface="Arial" pitchFamily="34" charset="-122"/>
                <a:cs typeface="Arial" pitchFamily="34" charset="-120"/>
              </a:rPr>
              <a:t>REGIONAL POWER CO.</a:t>
            </a:r>
            <a:endParaRPr lang="en-US" sz="1650" dirty="0"/>
          </a:p>
        </p:txBody>
      </p:sp>
      <p:sp>
        <p:nvSpPr>
          <p:cNvPr id="22" name="Shape 20"/>
          <p:cNvSpPr/>
          <p:nvPr/>
        </p:nvSpPr>
        <p:spPr>
          <a:xfrm>
            <a:off x="13257386" y="3968874"/>
            <a:ext cx="3420889" cy="866775"/>
          </a:xfrm>
          <a:prstGeom prst="rect">
            <a:avLst/>
          </a:prstGeom>
          <a:ln w="9525">
            <a:solidFill>
              <a:srgbClr val="2A2A2F"/>
            </a:solidFill>
            <a:prstDash val="solid"/>
          </a:ln>
        </p:spPr>
      </p:sp>
      <p:sp>
        <p:nvSpPr>
          <p:cNvPr id="23" name="Text 21"/>
          <p:cNvSpPr/>
          <p:nvPr/>
        </p:nvSpPr>
        <p:spPr>
          <a:xfrm>
            <a:off x="13406098" y="4245099"/>
            <a:ext cx="312346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spc="198" kern="0" dirty="0">
                <a:solidFill>
                  <a:srgbClr val="D4D4D8"/>
                </a:solidFill>
                <a:latin typeface="Arial" pitchFamily="34" charset="0"/>
                <a:ea typeface="Arial" pitchFamily="34" charset="-122"/>
                <a:cs typeface="Arial" pitchFamily="34" charset="-120"/>
              </a:rPr>
              <a:t>METRO SCHOOL DIST.</a:t>
            </a:r>
            <a:endParaRPr lang="en-US" sz="1650" dirty="0"/>
          </a:p>
        </p:txBody>
      </p:sp>
      <p:sp>
        <p:nvSpPr>
          <p:cNvPr id="24" name="Shape 22"/>
          <p:cNvSpPr/>
          <p:nvPr/>
        </p:nvSpPr>
        <p:spPr>
          <a:xfrm>
            <a:off x="9684172" y="4988049"/>
            <a:ext cx="3420814" cy="866775"/>
          </a:xfrm>
          <a:prstGeom prst="rect">
            <a:avLst/>
          </a:prstGeom>
          <a:ln w="9525">
            <a:solidFill>
              <a:srgbClr val="2A2A2F"/>
            </a:solidFill>
            <a:prstDash val="solid"/>
          </a:ln>
        </p:spPr>
      </p:sp>
      <p:sp>
        <p:nvSpPr>
          <p:cNvPr id="25" name="Text 23"/>
          <p:cNvSpPr/>
          <p:nvPr/>
        </p:nvSpPr>
        <p:spPr>
          <a:xfrm>
            <a:off x="9832884" y="5264274"/>
            <a:ext cx="3123389"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spc="198" kern="0" dirty="0">
                <a:solidFill>
                  <a:srgbClr val="D4D4D8"/>
                </a:solidFill>
                <a:latin typeface="Arial" pitchFamily="34" charset="0"/>
                <a:ea typeface="Arial" pitchFamily="34" charset="-122"/>
                <a:cs typeface="Arial" pitchFamily="34" charset="-120"/>
              </a:rPr>
              <a:t>ESTATE GROUP</a:t>
            </a:r>
            <a:endParaRPr lang="en-US" sz="1650" dirty="0"/>
          </a:p>
        </p:txBody>
      </p:sp>
      <p:sp>
        <p:nvSpPr>
          <p:cNvPr id="26" name="Shape 24"/>
          <p:cNvSpPr/>
          <p:nvPr/>
        </p:nvSpPr>
        <p:spPr>
          <a:xfrm>
            <a:off x="13257386" y="4988049"/>
            <a:ext cx="3420889" cy="866775"/>
          </a:xfrm>
          <a:prstGeom prst="rect">
            <a:avLst/>
          </a:prstGeom>
          <a:ln w="9525">
            <a:solidFill>
              <a:srgbClr val="2A2A2F"/>
            </a:solidFill>
            <a:prstDash val="solid"/>
          </a:ln>
        </p:spPr>
      </p:sp>
      <p:sp>
        <p:nvSpPr>
          <p:cNvPr id="27" name="Text 25"/>
          <p:cNvSpPr/>
          <p:nvPr/>
        </p:nvSpPr>
        <p:spPr>
          <a:xfrm>
            <a:off x="13406098" y="5264274"/>
            <a:ext cx="312346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spc="198" kern="0" dirty="0">
                <a:solidFill>
                  <a:srgbClr val="D4D4D8"/>
                </a:solidFill>
                <a:latin typeface="Arial" pitchFamily="34" charset="0"/>
                <a:ea typeface="Arial" pitchFamily="34" charset="-122"/>
                <a:cs typeface="Arial" pitchFamily="34" charset="-120"/>
              </a:rPr>
              <a:t>DATA CENTER OP.</a:t>
            </a:r>
            <a:endParaRPr lang="en-US" sz="1650" dirty="0"/>
          </a:p>
        </p:txBody>
      </p:sp>
      <p:sp>
        <p:nvSpPr>
          <p:cNvPr id="28" name="Shape 26"/>
          <p:cNvSpPr/>
          <p:nvPr/>
        </p:nvSpPr>
        <p:spPr>
          <a:xfrm>
            <a:off x="9684172" y="6007224"/>
            <a:ext cx="3420814" cy="866775"/>
          </a:xfrm>
          <a:prstGeom prst="rect">
            <a:avLst/>
          </a:prstGeom>
          <a:ln w="9525">
            <a:solidFill>
              <a:srgbClr val="2A2A2F"/>
            </a:solidFill>
            <a:prstDash val="solid"/>
          </a:ln>
        </p:spPr>
      </p:sp>
      <p:sp>
        <p:nvSpPr>
          <p:cNvPr id="29" name="Text 27"/>
          <p:cNvSpPr/>
          <p:nvPr/>
        </p:nvSpPr>
        <p:spPr>
          <a:xfrm>
            <a:off x="9832884" y="6283449"/>
            <a:ext cx="3123389"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spc="198" kern="0" dirty="0">
                <a:solidFill>
                  <a:srgbClr val="D4D4D8"/>
                </a:solidFill>
                <a:latin typeface="Arial" pitchFamily="34" charset="0"/>
                <a:ea typeface="Arial" pitchFamily="34" charset="-122"/>
                <a:cs typeface="Arial" pitchFamily="34" charset="-120"/>
              </a:rPr>
              <a:t>PORT AUTHORITY</a:t>
            </a:r>
            <a:endParaRPr lang="en-US" sz="1650" dirty="0"/>
          </a:p>
        </p:txBody>
      </p:sp>
      <p:sp>
        <p:nvSpPr>
          <p:cNvPr id="30" name="Shape 28"/>
          <p:cNvSpPr/>
          <p:nvPr/>
        </p:nvSpPr>
        <p:spPr>
          <a:xfrm>
            <a:off x="13257386" y="6007224"/>
            <a:ext cx="3420889" cy="866775"/>
          </a:xfrm>
          <a:prstGeom prst="rect">
            <a:avLst/>
          </a:prstGeom>
          <a:ln w="9525">
            <a:solidFill>
              <a:srgbClr val="2A2A2F"/>
            </a:solidFill>
            <a:prstDash val="solid"/>
          </a:ln>
        </p:spPr>
      </p:sp>
      <p:sp>
        <p:nvSpPr>
          <p:cNvPr id="31" name="Text 29"/>
          <p:cNvSpPr/>
          <p:nvPr/>
        </p:nvSpPr>
        <p:spPr>
          <a:xfrm>
            <a:off x="13406098" y="6283449"/>
            <a:ext cx="312346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spc="198" kern="0" dirty="0">
                <a:solidFill>
                  <a:srgbClr val="D4D4D8"/>
                </a:solidFill>
                <a:latin typeface="Arial" pitchFamily="34" charset="0"/>
                <a:ea typeface="Arial" pitchFamily="34" charset="-122"/>
                <a:cs typeface="Arial" pitchFamily="34" charset="-120"/>
              </a:rPr>
              <a:t>F500 CAMPUS</a:t>
            </a:r>
            <a:endParaRPr lang="en-US" sz="1650" dirty="0"/>
          </a:p>
        </p:txBody>
      </p:sp>
      <p:sp>
        <p:nvSpPr>
          <p:cNvPr id="32" name="Shape 30"/>
          <p:cNvSpPr/>
          <p:nvPr/>
        </p:nvSpPr>
        <p:spPr>
          <a:xfrm>
            <a:off x="9684172" y="7293397"/>
            <a:ext cx="781050" cy="38100"/>
          </a:xfrm>
          <a:prstGeom prst="rect">
            <a:avLst/>
          </a:prstGeom>
          <a:solidFill>
            <a:srgbClr val="C8102E"/>
          </a:solidFill>
          <a:ln w="9525">
            <a:solidFill>
              <a:srgbClr val="808080"/>
            </a:solidFill>
            <a:prstDash val="solid"/>
          </a:ln>
        </p:spPr>
      </p:sp>
      <p:sp>
        <p:nvSpPr>
          <p:cNvPr id="33" name="Text 31"/>
          <p:cNvSpPr/>
          <p:nvPr/>
        </p:nvSpPr>
        <p:spPr>
          <a:xfrm>
            <a:off x="9684172" y="7560097"/>
            <a:ext cx="7203926" cy="1501080"/>
          </a:xfrm>
          <a:prstGeom prst="rect">
            <a:avLst/>
          </a:prstGeom>
          <a:noFill/>
          <a:ln/>
        </p:spPr>
        <p:txBody>
          <a:bodyPr wrap="square" lIns="25400" tIns="25400" rIns="25400" bIns="25400" rtlCol="0" anchor="t">
            <a:normAutofit/>
          </a:bodyPr>
          <a:lstStyle/>
          <a:p>
            <a:pPr algn="l" indent="0" marL="0">
              <a:lnSpc>
                <a:spcPct val="120000"/>
              </a:lnSpc>
              <a:buNone/>
            </a:pPr>
            <a:r>
              <a:rPr lang="en-US" sz="2400" spc="24" kern="0" dirty="0">
                <a:solidFill>
                  <a:srgbClr val="FFFFFF"/>
                </a:solidFill>
                <a:latin typeface="Arial" pitchFamily="34" charset="0"/>
                <a:ea typeface="Arial" pitchFamily="34" charset="-122"/>
                <a:cs typeface="Arial" pitchFamily="34" charset="-120"/>
              </a:rPr>
              <a:t>"DXD IS THE ONLY VENDOR WHO SHOWS UP WITH THE DRONE, THE OFFICER, AND THE SOFTWARE. THEY REPLACED FOUR OF OURS."</a:t>
            </a:r>
            <a:endParaRPr lang="en-US" sz="2400" dirty="0"/>
          </a:p>
        </p:txBody>
      </p:sp>
      <p:sp>
        <p:nvSpPr>
          <p:cNvPr id="34" name="Text 32"/>
          <p:cNvSpPr/>
          <p:nvPr/>
        </p:nvSpPr>
        <p:spPr>
          <a:xfrm>
            <a:off x="9684172" y="9194527"/>
            <a:ext cx="720392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 VP SECURITY · FORTUNE 500 ENERGY · 2026</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004503" y="419100"/>
            <a:ext cx="323471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11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UNIT ECONOMICS</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RECURRING · DEFENSIBLE</a:t>
            </a:r>
            <a:endParaRPr lang="en-US" sz="1800" dirty="0"/>
          </a:p>
        </p:txBody>
      </p:sp>
      <p:sp>
        <p:nvSpPr>
          <p:cNvPr id="6" name="Text 4"/>
          <p:cNvSpPr/>
          <p:nvPr/>
        </p:nvSpPr>
        <p:spPr>
          <a:xfrm>
            <a:off x="1143000" y="1657350"/>
            <a:ext cx="16482060" cy="854199"/>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UNIT ECONOMICS.</a:t>
            </a:r>
            <a:endParaRPr lang="en-US" sz="6300" dirty="0"/>
          </a:p>
        </p:txBody>
      </p:sp>
      <p:sp>
        <p:nvSpPr>
          <p:cNvPr id="7" name="Shape 5"/>
          <p:cNvSpPr/>
          <p:nvPr/>
        </p:nvSpPr>
        <p:spPr>
          <a:xfrm>
            <a:off x="1143000" y="3159249"/>
            <a:ext cx="6996113" cy="5318001"/>
          </a:xfrm>
          <a:prstGeom prst="rect">
            <a:avLst/>
          </a:prstGeom>
          <a:solidFill>
            <a:srgbClr val="000000"/>
          </a:solidFill>
          <a:ln w="9525">
            <a:solidFill>
              <a:srgbClr val="2A2A2F"/>
            </a:solidFill>
            <a:prstDash val="solid"/>
          </a:ln>
        </p:spPr>
      </p:sp>
      <p:sp>
        <p:nvSpPr>
          <p:cNvPr id="8" name="Text 6"/>
          <p:cNvSpPr/>
          <p:nvPr/>
        </p:nvSpPr>
        <p:spPr>
          <a:xfrm>
            <a:off x="1533525" y="3549774"/>
            <a:ext cx="6401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REVENUE MIX · TTM</a:t>
            </a:r>
            <a:endParaRPr lang="en-US" sz="1800" dirty="0"/>
          </a:p>
        </p:txBody>
      </p:sp>
      <p:sp>
        <p:nvSpPr>
          <p:cNvPr id="9" name="Shape 7"/>
          <p:cNvSpPr/>
          <p:nvPr/>
        </p:nvSpPr>
        <p:spPr>
          <a:xfrm>
            <a:off x="1533525" y="4349874"/>
            <a:ext cx="6215063" cy="495300"/>
          </a:xfrm>
          <a:prstGeom prst="rect">
            <a:avLst/>
          </a:prstGeom>
          <a:ln w="9525">
            <a:solidFill>
              <a:srgbClr val="2A2A2F"/>
            </a:solidFill>
            <a:prstDash val="solid"/>
          </a:ln>
        </p:spPr>
      </p:sp>
      <p:sp>
        <p:nvSpPr>
          <p:cNvPr id="10" name="Shape 8"/>
          <p:cNvSpPr/>
          <p:nvPr/>
        </p:nvSpPr>
        <p:spPr>
          <a:xfrm>
            <a:off x="1543050" y="4359399"/>
            <a:ext cx="4866456" cy="476250"/>
          </a:xfrm>
          <a:prstGeom prst="rect">
            <a:avLst/>
          </a:prstGeom>
          <a:solidFill>
            <a:srgbClr val="C8102E"/>
          </a:solidFill>
          <a:ln/>
        </p:spPr>
      </p:sp>
      <p:sp>
        <p:nvSpPr>
          <p:cNvPr id="11" name="Text 9"/>
          <p:cNvSpPr/>
          <p:nvPr/>
        </p:nvSpPr>
        <p:spPr>
          <a:xfrm>
            <a:off x="1695450" y="4359399"/>
            <a:ext cx="4860050" cy="514350"/>
          </a:xfrm>
          <a:prstGeom prst="rect">
            <a:avLst/>
          </a:prstGeom>
          <a:noFill/>
          <a:ln/>
        </p:spPr>
        <p:txBody>
          <a:bodyPr wrap="square" lIns="25400" tIns="25400" rIns="25400" bIns="25400" rtlCol="0" anchor="ctr">
            <a:normAutofit/>
          </a:bodyPr>
          <a:lstStyle/>
          <a:p>
            <a:pPr algn="l" indent="0" marL="0">
              <a:lnSpc>
                <a:spcPct val="150000"/>
              </a:lnSpc>
              <a:buNone/>
            </a:pPr>
            <a:r>
              <a:rPr lang="en-US" sz="1200" dirty="0">
                <a:solidFill>
                  <a:srgbClr val="FFFFFF"/>
                </a:solidFill>
                <a:latin typeface="Arial" pitchFamily="34" charset="0"/>
                <a:ea typeface="Arial" pitchFamily="34" charset="-122"/>
                <a:cs typeface="Arial" pitchFamily="34" charset="-120"/>
              </a:rPr>
              <a:t>78%</a:t>
            </a:r>
            <a:endParaRPr lang="en-US" sz="1200" dirty="0"/>
          </a:p>
        </p:txBody>
      </p:sp>
      <p:sp>
        <p:nvSpPr>
          <p:cNvPr id="12" name="Shape 10"/>
          <p:cNvSpPr/>
          <p:nvPr/>
        </p:nvSpPr>
        <p:spPr>
          <a:xfrm>
            <a:off x="6409506" y="4359399"/>
            <a:ext cx="846088" cy="476250"/>
          </a:xfrm>
          <a:prstGeom prst="rect">
            <a:avLst/>
          </a:prstGeom>
          <a:solidFill>
            <a:srgbClr val="D4D4D8"/>
          </a:solidFill>
          <a:ln/>
        </p:spPr>
      </p:sp>
      <p:sp>
        <p:nvSpPr>
          <p:cNvPr id="13" name="Text 11"/>
          <p:cNvSpPr/>
          <p:nvPr/>
        </p:nvSpPr>
        <p:spPr>
          <a:xfrm>
            <a:off x="6371406" y="4359399"/>
            <a:ext cx="922288" cy="514350"/>
          </a:xfrm>
          <a:prstGeom prst="rect">
            <a:avLst/>
          </a:prstGeom>
          <a:noFill/>
          <a:ln/>
        </p:spPr>
        <p:txBody>
          <a:bodyPr wrap="square" lIns="25400" tIns="25400" rIns="25400" bIns="25400" rtlCol="0" anchor="ctr">
            <a:normAutofit/>
          </a:bodyPr>
          <a:lstStyle/>
          <a:p>
            <a:pPr algn="ctr" indent="0" marL="0">
              <a:lnSpc>
                <a:spcPct val="150000"/>
              </a:lnSpc>
              <a:buNone/>
            </a:pPr>
            <a:r>
              <a:rPr lang="en-US" sz="1200" dirty="0">
                <a:solidFill>
                  <a:srgbClr val="000000"/>
                </a:solidFill>
                <a:latin typeface="Arial" pitchFamily="34" charset="0"/>
                <a:ea typeface="Arial" pitchFamily="34" charset="-122"/>
                <a:cs typeface="Arial" pitchFamily="34" charset="-120"/>
              </a:rPr>
              <a:t>14%</a:t>
            </a:r>
            <a:endParaRPr lang="en-US" sz="1200" dirty="0"/>
          </a:p>
        </p:txBody>
      </p:sp>
      <p:sp>
        <p:nvSpPr>
          <p:cNvPr id="14" name="Shape 12"/>
          <p:cNvSpPr/>
          <p:nvPr/>
        </p:nvSpPr>
        <p:spPr>
          <a:xfrm>
            <a:off x="7255594" y="4359399"/>
            <a:ext cx="483468" cy="476250"/>
          </a:xfrm>
          <a:prstGeom prst="rect">
            <a:avLst/>
          </a:prstGeom>
          <a:solidFill>
            <a:srgbClr val="6B6B73"/>
          </a:solidFill>
          <a:ln/>
        </p:spPr>
      </p:sp>
      <p:sp>
        <p:nvSpPr>
          <p:cNvPr id="15" name="Text 13"/>
          <p:cNvSpPr/>
          <p:nvPr/>
        </p:nvSpPr>
        <p:spPr>
          <a:xfrm>
            <a:off x="7217494" y="4359399"/>
            <a:ext cx="559668" cy="514350"/>
          </a:xfrm>
          <a:prstGeom prst="rect">
            <a:avLst/>
          </a:prstGeom>
          <a:noFill/>
          <a:ln/>
        </p:spPr>
        <p:txBody>
          <a:bodyPr wrap="square" lIns="25400" tIns="25400" rIns="25400" bIns="25400" rtlCol="0" anchor="ctr">
            <a:normAutofit/>
          </a:bodyPr>
          <a:lstStyle/>
          <a:p>
            <a:pPr algn="ctr" indent="0" marL="0">
              <a:lnSpc>
                <a:spcPct val="150000"/>
              </a:lnSpc>
              <a:buNone/>
            </a:pPr>
            <a:r>
              <a:rPr lang="en-US" sz="1200" dirty="0">
                <a:solidFill>
                  <a:srgbClr val="FFFFFF"/>
                </a:solidFill>
                <a:latin typeface="Arial" pitchFamily="34" charset="0"/>
                <a:ea typeface="Arial" pitchFamily="34" charset="-122"/>
                <a:cs typeface="Arial" pitchFamily="34" charset="-120"/>
              </a:rPr>
              <a:t>8%</a:t>
            </a:r>
            <a:endParaRPr lang="en-US" sz="1200" dirty="0"/>
          </a:p>
        </p:txBody>
      </p:sp>
      <p:sp>
        <p:nvSpPr>
          <p:cNvPr id="16" name="Shape 14"/>
          <p:cNvSpPr/>
          <p:nvPr/>
        </p:nvSpPr>
        <p:spPr>
          <a:xfrm>
            <a:off x="1533525" y="5153769"/>
            <a:ext cx="133350" cy="133350"/>
          </a:xfrm>
          <a:prstGeom prst="rect">
            <a:avLst/>
          </a:prstGeom>
          <a:solidFill>
            <a:srgbClr val="C8102E"/>
          </a:solidFill>
          <a:ln/>
        </p:spPr>
      </p:sp>
      <p:sp>
        <p:nvSpPr>
          <p:cNvPr id="17" name="Text 15"/>
          <p:cNvSpPr/>
          <p:nvPr/>
        </p:nvSpPr>
        <p:spPr>
          <a:xfrm>
            <a:off x="1800225" y="5073774"/>
            <a:ext cx="308318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D4D4D8"/>
                </a:solidFill>
                <a:latin typeface="Arial" pitchFamily="34" charset="0"/>
                <a:ea typeface="Arial" pitchFamily="34" charset="-122"/>
                <a:cs typeface="Arial" pitchFamily="34" charset="-120"/>
              </a:rPr>
              <a:t>Subscription · monthly coverage</a:t>
            </a:r>
            <a:endParaRPr lang="en-US" sz="1650" dirty="0"/>
          </a:p>
        </p:txBody>
      </p:sp>
      <p:sp>
        <p:nvSpPr>
          <p:cNvPr id="18" name="Shape 16"/>
          <p:cNvSpPr/>
          <p:nvPr/>
        </p:nvSpPr>
        <p:spPr>
          <a:xfrm>
            <a:off x="1533525" y="5580459"/>
            <a:ext cx="133350" cy="133350"/>
          </a:xfrm>
          <a:prstGeom prst="rect">
            <a:avLst/>
          </a:prstGeom>
          <a:solidFill>
            <a:srgbClr val="D4D4D8"/>
          </a:solidFill>
          <a:ln/>
        </p:spPr>
      </p:sp>
      <p:sp>
        <p:nvSpPr>
          <p:cNvPr id="19" name="Text 17"/>
          <p:cNvSpPr/>
          <p:nvPr/>
        </p:nvSpPr>
        <p:spPr>
          <a:xfrm>
            <a:off x="1800225" y="5500464"/>
            <a:ext cx="237113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D4D4D8"/>
                </a:solidFill>
                <a:latin typeface="Arial" pitchFamily="34" charset="0"/>
                <a:ea typeface="Arial" pitchFamily="34" charset="-122"/>
                <a:cs typeface="Arial" pitchFamily="34" charset="-120"/>
              </a:rPr>
              <a:t>Incident-based response</a:t>
            </a:r>
            <a:endParaRPr lang="en-US" sz="1650" dirty="0"/>
          </a:p>
        </p:txBody>
      </p:sp>
      <p:sp>
        <p:nvSpPr>
          <p:cNvPr id="20" name="Shape 18"/>
          <p:cNvSpPr/>
          <p:nvPr/>
        </p:nvSpPr>
        <p:spPr>
          <a:xfrm>
            <a:off x="1533525" y="6007150"/>
            <a:ext cx="133350" cy="133350"/>
          </a:xfrm>
          <a:prstGeom prst="rect">
            <a:avLst/>
          </a:prstGeom>
          <a:solidFill>
            <a:srgbClr val="6B6B73"/>
          </a:solidFill>
          <a:ln/>
        </p:spPr>
      </p:sp>
      <p:sp>
        <p:nvSpPr>
          <p:cNvPr id="21" name="Text 19"/>
          <p:cNvSpPr/>
          <p:nvPr/>
        </p:nvSpPr>
        <p:spPr>
          <a:xfrm>
            <a:off x="1800225" y="5927154"/>
            <a:ext cx="2883058"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D4D4D8"/>
                </a:solidFill>
                <a:latin typeface="Arial" pitchFamily="34" charset="0"/>
                <a:ea typeface="Arial" pitchFamily="34" charset="-122"/>
                <a:cs typeface="Arial" pitchFamily="34" charset="-120"/>
              </a:rPr>
              <a:t>Training · consulting · projects</a:t>
            </a:r>
            <a:endParaRPr lang="en-US" sz="1650" dirty="0"/>
          </a:p>
        </p:txBody>
      </p:sp>
      <p:sp>
        <p:nvSpPr>
          <p:cNvPr id="22" name="Shape 20"/>
          <p:cNvSpPr/>
          <p:nvPr/>
        </p:nvSpPr>
        <p:spPr>
          <a:xfrm>
            <a:off x="8443913" y="3159249"/>
            <a:ext cx="4264819" cy="2573238"/>
          </a:xfrm>
          <a:prstGeom prst="rect">
            <a:avLst/>
          </a:prstGeom>
          <a:solidFill>
            <a:srgbClr val="000000"/>
          </a:solidFill>
          <a:ln w="9525">
            <a:solidFill>
              <a:srgbClr val="2A2A2F"/>
            </a:solidFill>
            <a:prstDash val="solid"/>
          </a:ln>
        </p:spPr>
      </p:sp>
      <p:sp>
        <p:nvSpPr>
          <p:cNvPr id="23" name="Text 21"/>
          <p:cNvSpPr/>
          <p:nvPr/>
        </p:nvSpPr>
        <p:spPr>
          <a:xfrm>
            <a:off x="8758238" y="3473574"/>
            <a:ext cx="374525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A9AA3"/>
                </a:solidFill>
                <a:latin typeface="Courier New" pitchFamily="34" charset="0"/>
                <a:ea typeface="Courier New" pitchFamily="34" charset="-122"/>
                <a:cs typeface="Courier New" pitchFamily="34" charset="-120"/>
              </a:rPr>
              <a:t>GROSS MARGIN</a:t>
            </a:r>
            <a:endParaRPr lang="en-US" sz="1200" dirty="0"/>
          </a:p>
        </p:txBody>
      </p:sp>
      <p:sp>
        <p:nvSpPr>
          <p:cNvPr id="24" name="Text 22"/>
          <p:cNvSpPr/>
          <p:nvPr/>
        </p:nvSpPr>
        <p:spPr>
          <a:xfrm>
            <a:off x="8758238" y="3816474"/>
            <a:ext cx="3745254" cy="983159"/>
          </a:xfrm>
          <a:prstGeom prst="rect">
            <a:avLst/>
          </a:prstGeom>
          <a:noFill/>
          <a:ln/>
        </p:spPr>
        <p:txBody>
          <a:bodyPr wrap="square" lIns="25400" tIns="25400" rIns="25400" bIns="25400" rtlCol="0" anchor="t">
            <a:normAutofit/>
          </a:bodyPr>
          <a:lstStyle/>
          <a:p>
            <a:pPr algn="l" indent="0" marL="0">
              <a:lnSpc>
                <a:spcPct val="88000"/>
              </a:lnSpc>
              <a:buNone/>
            </a:pPr>
            <a:r>
              <a:rPr lang="en-US" sz="8400" b="1" spc="-168" kern="0" dirty="0">
                <a:solidFill>
                  <a:srgbClr val="FFFFFF"/>
                </a:solidFill>
                <a:latin typeface="Arial" pitchFamily="34" charset="0"/>
                <a:ea typeface="Arial" pitchFamily="34" charset="-122"/>
                <a:cs typeface="Arial" pitchFamily="34" charset="-120"/>
              </a:rPr>
              <a:t>52</a:t>
            </a:r>
            <a:pPr algn="l" indent="0" marL="0">
              <a:lnSpc>
                <a:spcPct val="88000"/>
              </a:lnSpc>
              <a:buNone/>
            </a:pPr>
            <a:r>
              <a:rPr lang="en-US" sz="3300" b="1" spc="-168" kern="0" dirty="0">
                <a:solidFill>
                  <a:srgbClr val="9A9AA3"/>
                </a:solidFill>
                <a:latin typeface="Arial" pitchFamily="34" charset="0"/>
                <a:ea typeface="Arial" pitchFamily="34" charset="-122"/>
                <a:cs typeface="Arial" pitchFamily="34" charset="-120"/>
              </a:rPr>
              <a:t>%</a:t>
            </a:r>
            <a:endParaRPr lang="en-US" sz="8400" dirty="0"/>
          </a:p>
        </p:txBody>
      </p:sp>
      <p:sp>
        <p:nvSpPr>
          <p:cNvPr id="25" name="Text 23"/>
          <p:cNvSpPr/>
          <p:nvPr/>
        </p:nvSpPr>
        <p:spPr>
          <a:xfrm>
            <a:off x="8758238" y="4865712"/>
            <a:ext cx="3745254"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9A9AA3"/>
                </a:solidFill>
                <a:latin typeface="Arial" pitchFamily="34" charset="0"/>
                <a:ea typeface="Arial" pitchFamily="34" charset="-122"/>
                <a:cs typeface="Arial" pitchFamily="34" charset="-120"/>
              </a:rPr>
              <a:t>SaaS-like on monitoring · services on guarding</a:t>
            </a:r>
            <a:endParaRPr lang="en-US" sz="1500" dirty="0"/>
          </a:p>
        </p:txBody>
      </p:sp>
      <p:sp>
        <p:nvSpPr>
          <p:cNvPr id="26" name="Shape 24"/>
          <p:cNvSpPr/>
          <p:nvPr/>
        </p:nvSpPr>
        <p:spPr>
          <a:xfrm>
            <a:off x="12880181" y="3159249"/>
            <a:ext cx="4264819" cy="2573238"/>
          </a:xfrm>
          <a:prstGeom prst="rect">
            <a:avLst/>
          </a:prstGeom>
          <a:solidFill>
            <a:srgbClr val="000000"/>
          </a:solidFill>
          <a:ln w="9525">
            <a:solidFill>
              <a:srgbClr val="2A2A2F"/>
            </a:solidFill>
            <a:prstDash val="solid"/>
          </a:ln>
        </p:spPr>
      </p:sp>
      <p:sp>
        <p:nvSpPr>
          <p:cNvPr id="27" name="Text 25"/>
          <p:cNvSpPr/>
          <p:nvPr/>
        </p:nvSpPr>
        <p:spPr>
          <a:xfrm>
            <a:off x="13194506" y="3473574"/>
            <a:ext cx="374525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A9AA3"/>
                </a:solidFill>
                <a:latin typeface="Courier New" pitchFamily="34" charset="0"/>
                <a:ea typeface="Courier New" pitchFamily="34" charset="-122"/>
                <a:cs typeface="Courier New" pitchFamily="34" charset="-120"/>
              </a:rPr>
              <a:t>PAYBACK</a:t>
            </a:r>
            <a:endParaRPr lang="en-US" sz="1200" dirty="0"/>
          </a:p>
        </p:txBody>
      </p:sp>
      <p:sp>
        <p:nvSpPr>
          <p:cNvPr id="28" name="Text 26"/>
          <p:cNvSpPr/>
          <p:nvPr/>
        </p:nvSpPr>
        <p:spPr>
          <a:xfrm>
            <a:off x="13194506" y="3816474"/>
            <a:ext cx="3745254" cy="983159"/>
          </a:xfrm>
          <a:prstGeom prst="rect">
            <a:avLst/>
          </a:prstGeom>
          <a:noFill/>
          <a:ln/>
        </p:spPr>
        <p:txBody>
          <a:bodyPr wrap="square" lIns="25400" tIns="25400" rIns="25400" bIns="25400" rtlCol="0" anchor="t">
            <a:normAutofit/>
          </a:bodyPr>
          <a:lstStyle/>
          <a:p>
            <a:pPr algn="l" indent="0" marL="0">
              <a:lnSpc>
                <a:spcPct val="88000"/>
              </a:lnSpc>
              <a:buNone/>
            </a:pPr>
            <a:r>
              <a:rPr lang="en-US" sz="8400" b="1" spc="-168" kern="0" dirty="0">
                <a:solidFill>
                  <a:srgbClr val="C8102E"/>
                </a:solidFill>
                <a:latin typeface="Arial" pitchFamily="34" charset="0"/>
                <a:ea typeface="Arial" pitchFamily="34" charset="-122"/>
                <a:cs typeface="Arial" pitchFamily="34" charset="-120"/>
              </a:rPr>
              <a:t>9</a:t>
            </a:r>
            <a:pPr algn="l" indent="0" marL="0">
              <a:lnSpc>
                <a:spcPct val="88000"/>
              </a:lnSpc>
              <a:buNone/>
            </a:pPr>
            <a:r>
              <a:rPr lang="en-US" sz="3300" b="1" spc="-168" kern="0" dirty="0">
                <a:solidFill>
                  <a:srgbClr val="9A9AA3"/>
                </a:solidFill>
                <a:latin typeface="Arial" pitchFamily="34" charset="0"/>
                <a:ea typeface="Arial" pitchFamily="34" charset="-122"/>
                <a:cs typeface="Arial" pitchFamily="34" charset="-120"/>
              </a:rPr>
              <a:t>mo</a:t>
            </a:r>
            <a:endParaRPr lang="en-US" sz="8400" dirty="0"/>
          </a:p>
        </p:txBody>
      </p:sp>
      <p:sp>
        <p:nvSpPr>
          <p:cNvPr id="29" name="Text 27"/>
          <p:cNvSpPr/>
          <p:nvPr/>
        </p:nvSpPr>
        <p:spPr>
          <a:xfrm>
            <a:off x="13194506" y="5141937"/>
            <a:ext cx="3745254"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9A9AA3"/>
                </a:solidFill>
                <a:latin typeface="Arial" pitchFamily="34" charset="0"/>
                <a:ea typeface="Arial" pitchFamily="34" charset="-122"/>
                <a:cs typeface="Arial" pitchFamily="34" charset="-120"/>
              </a:rPr>
              <a:t>CAC recovered in under three quarters</a:t>
            </a:r>
            <a:endParaRPr lang="en-US" sz="1500" dirty="0"/>
          </a:p>
        </p:txBody>
      </p:sp>
      <p:sp>
        <p:nvSpPr>
          <p:cNvPr id="30" name="Shape 28"/>
          <p:cNvSpPr/>
          <p:nvPr/>
        </p:nvSpPr>
        <p:spPr>
          <a:xfrm>
            <a:off x="8443913" y="5903937"/>
            <a:ext cx="4264819" cy="2573313"/>
          </a:xfrm>
          <a:prstGeom prst="rect">
            <a:avLst/>
          </a:prstGeom>
          <a:solidFill>
            <a:srgbClr val="000000"/>
          </a:solidFill>
          <a:ln w="9525">
            <a:solidFill>
              <a:srgbClr val="2A2A2F"/>
            </a:solidFill>
            <a:prstDash val="solid"/>
          </a:ln>
        </p:spPr>
      </p:sp>
      <p:sp>
        <p:nvSpPr>
          <p:cNvPr id="31" name="Text 29"/>
          <p:cNvSpPr/>
          <p:nvPr/>
        </p:nvSpPr>
        <p:spPr>
          <a:xfrm>
            <a:off x="8758238" y="6218262"/>
            <a:ext cx="374525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A9AA3"/>
                </a:solidFill>
                <a:latin typeface="Courier New" pitchFamily="34" charset="0"/>
                <a:ea typeface="Courier New" pitchFamily="34" charset="-122"/>
                <a:cs typeface="Courier New" pitchFamily="34" charset="-120"/>
              </a:rPr>
              <a:t>LTV / CAC</a:t>
            </a:r>
            <a:endParaRPr lang="en-US" sz="1200" dirty="0"/>
          </a:p>
        </p:txBody>
      </p:sp>
      <p:sp>
        <p:nvSpPr>
          <p:cNvPr id="32" name="Text 30"/>
          <p:cNvSpPr/>
          <p:nvPr/>
        </p:nvSpPr>
        <p:spPr>
          <a:xfrm>
            <a:off x="8758238" y="6561162"/>
            <a:ext cx="3745254" cy="983159"/>
          </a:xfrm>
          <a:prstGeom prst="rect">
            <a:avLst/>
          </a:prstGeom>
          <a:noFill/>
          <a:ln/>
        </p:spPr>
        <p:txBody>
          <a:bodyPr wrap="square" lIns="25400" tIns="25400" rIns="25400" bIns="25400" rtlCol="0" anchor="t">
            <a:normAutofit/>
          </a:bodyPr>
          <a:lstStyle/>
          <a:p>
            <a:pPr algn="l" indent="0" marL="0">
              <a:lnSpc>
                <a:spcPct val="88000"/>
              </a:lnSpc>
              <a:buNone/>
            </a:pPr>
            <a:r>
              <a:rPr lang="en-US" sz="8400" b="1" spc="-168" kern="0" dirty="0">
                <a:solidFill>
                  <a:srgbClr val="FFFFFF"/>
                </a:solidFill>
                <a:latin typeface="Arial" pitchFamily="34" charset="0"/>
                <a:ea typeface="Arial" pitchFamily="34" charset="-122"/>
                <a:cs typeface="Arial" pitchFamily="34" charset="-120"/>
              </a:rPr>
              <a:t>7.4</a:t>
            </a:r>
            <a:pPr algn="l" indent="0" marL="0">
              <a:lnSpc>
                <a:spcPct val="88000"/>
              </a:lnSpc>
              <a:buNone/>
            </a:pPr>
            <a:r>
              <a:rPr lang="en-US" sz="3300" b="1" spc="-168" kern="0" dirty="0">
                <a:solidFill>
                  <a:srgbClr val="9A9AA3"/>
                </a:solidFill>
                <a:latin typeface="Arial" pitchFamily="34" charset="0"/>
                <a:ea typeface="Arial" pitchFamily="34" charset="-122"/>
                <a:cs typeface="Arial" pitchFamily="34" charset="-120"/>
              </a:rPr>
              <a:t>×</a:t>
            </a:r>
            <a:endParaRPr lang="en-US" sz="8400" dirty="0"/>
          </a:p>
        </p:txBody>
      </p:sp>
      <p:sp>
        <p:nvSpPr>
          <p:cNvPr id="33" name="Text 31"/>
          <p:cNvSpPr/>
          <p:nvPr/>
        </p:nvSpPr>
        <p:spPr>
          <a:xfrm>
            <a:off x="8758238" y="7886700"/>
            <a:ext cx="3745254"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9A9AA3"/>
                </a:solidFill>
                <a:latin typeface="Arial" pitchFamily="34" charset="0"/>
                <a:ea typeface="Arial" pitchFamily="34" charset="-122"/>
                <a:cs typeface="Arial" pitchFamily="34" charset="-120"/>
              </a:rPr>
              <a:t>Multi-year contracts · expansion built-in</a:t>
            </a:r>
            <a:endParaRPr lang="en-US" sz="1500" dirty="0"/>
          </a:p>
        </p:txBody>
      </p:sp>
      <p:sp>
        <p:nvSpPr>
          <p:cNvPr id="34" name="Shape 32"/>
          <p:cNvSpPr/>
          <p:nvPr/>
        </p:nvSpPr>
        <p:spPr>
          <a:xfrm>
            <a:off x="12880181" y="5903937"/>
            <a:ext cx="4264819" cy="2573313"/>
          </a:xfrm>
          <a:prstGeom prst="rect">
            <a:avLst/>
          </a:prstGeom>
          <a:solidFill>
            <a:srgbClr val="000000"/>
          </a:solidFill>
          <a:ln w="9525">
            <a:solidFill>
              <a:srgbClr val="2A2A2F"/>
            </a:solidFill>
            <a:prstDash val="solid"/>
          </a:ln>
        </p:spPr>
      </p:sp>
      <p:sp>
        <p:nvSpPr>
          <p:cNvPr id="35" name="Text 33"/>
          <p:cNvSpPr/>
          <p:nvPr/>
        </p:nvSpPr>
        <p:spPr>
          <a:xfrm>
            <a:off x="13194506" y="6218262"/>
            <a:ext cx="374525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A9AA3"/>
                </a:solidFill>
                <a:latin typeface="Courier New" pitchFamily="34" charset="0"/>
                <a:ea typeface="Courier New" pitchFamily="34" charset="-122"/>
                <a:cs typeface="Courier New" pitchFamily="34" charset="-120"/>
              </a:rPr>
              <a:t>GROSS CHURN</a:t>
            </a:r>
            <a:endParaRPr lang="en-US" sz="1200" dirty="0"/>
          </a:p>
        </p:txBody>
      </p:sp>
      <p:sp>
        <p:nvSpPr>
          <p:cNvPr id="36" name="Text 34"/>
          <p:cNvSpPr/>
          <p:nvPr/>
        </p:nvSpPr>
        <p:spPr>
          <a:xfrm>
            <a:off x="13194506" y="6561162"/>
            <a:ext cx="3745254" cy="983159"/>
          </a:xfrm>
          <a:prstGeom prst="rect">
            <a:avLst/>
          </a:prstGeom>
          <a:noFill/>
          <a:ln/>
        </p:spPr>
        <p:txBody>
          <a:bodyPr wrap="square" lIns="25400" tIns="25400" rIns="25400" bIns="25400" rtlCol="0" anchor="t">
            <a:normAutofit/>
          </a:bodyPr>
          <a:lstStyle/>
          <a:p>
            <a:pPr algn="l" indent="0" marL="0">
              <a:lnSpc>
                <a:spcPct val="88000"/>
              </a:lnSpc>
              <a:buNone/>
            </a:pPr>
            <a:r>
              <a:rPr lang="en-US" sz="8400" b="1" spc="-168" kern="0" dirty="0">
                <a:solidFill>
                  <a:srgbClr val="FFFFFF"/>
                </a:solidFill>
                <a:latin typeface="Arial" pitchFamily="34" charset="0"/>
                <a:ea typeface="Arial" pitchFamily="34" charset="-122"/>
                <a:cs typeface="Arial" pitchFamily="34" charset="-120"/>
              </a:rPr>
              <a:t>3.1</a:t>
            </a:r>
            <a:pPr algn="l" indent="0" marL="0">
              <a:lnSpc>
                <a:spcPct val="88000"/>
              </a:lnSpc>
              <a:buNone/>
            </a:pPr>
            <a:r>
              <a:rPr lang="en-US" sz="3300" b="1" spc="-168" kern="0" dirty="0">
                <a:solidFill>
                  <a:srgbClr val="9A9AA3"/>
                </a:solidFill>
                <a:latin typeface="Arial" pitchFamily="34" charset="0"/>
                <a:ea typeface="Arial" pitchFamily="34" charset="-122"/>
                <a:cs typeface="Arial" pitchFamily="34" charset="-120"/>
              </a:rPr>
              <a:t>%</a:t>
            </a:r>
            <a:endParaRPr lang="en-US" sz="8400" dirty="0"/>
          </a:p>
        </p:txBody>
      </p:sp>
      <p:sp>
        <p:nvSpPr>
          <p:cNvPr id="37" name="Text 35"/>
          <p:cNvSpPr/>
          <p:nvPr/>
        </p:nvSpPr>
        <p:spPr>
          <a:xfrm>
            <a:off x="13194506" y="7886700"/>
            <a:ext cx="3745254"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9A9AA3"/>
                </a:solidFill>
                <a:latin typeface="Arial" pitchFamily="34" charset="0"/>
                <a:ea typeface="Arial" pitchFamily="34" charset="-122"/>
                <a:cs typeface="Arial" pitchFamily="34" charset="-120"/>
              </a:rPr>
              <a:t>Contractual, high-trust, sticky</a:t>
            </a:r>
            <a:endParaRPr lang="en-US" sz="1500" dirty="0"/>
          </a:p>
        </p:txBody>
      </p:sp>
      <p:sp>
        <p:nvSpPr>
          <p:cNvPr id="38" name="Text 36"/>
          <p:cNvSpPr/>
          <p:nvPr/>
        </p:nvSpPr>
        <p:spPr>
          <a:xfrm>
            <a:off x="1143000" y="8858250"/>
            <a:ext cx="1648206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B6B73"/>
                </a:solidFill>
                <a:latin typeface="Courier New" pitchFamily="34" charset="0"/>
                <a:ea typeface="Courier New" pitchFamily="34" charset="-122"/>
                <a:cs typeface="Courier New" pitchFamily="34" charset="-120"/>
              </a:rPr>
              <a:t>PLACEHOLDER FIGURES · FINAL UNDER NDA</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4240619" y="419100"/>
            <a:ext cx="299151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12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GO-TO-MARKET</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THREE MOTIONS · ONE FUNNEL</a:t>
            </a:r>
            <a:endParaRPr lang="en-US" sz="1800" dirty="0"/>
          </a:p>
        </p:txBody>
      </p:sp>
      <p:sp>
        <p:nvSpPr>
          <p:cNvPr id="6" name="Text 4"/>
          <p:cNvSpPr/>
          <p:nvPr/>
        </p:nvSpPr>
        <p:spPr>
          <a:xfrm>
            <a:off x="1143000" y="1657350"/>
            <a:ext cx="16482060"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HOW WE SCALE TO 40 MARKETS.</a:t>
            </a:r>
            <a:endParaRPr lang="en-US" sz="6300" dirty="0"/>
          </a:p>
        </p:txBody>
      </p:sp>
      <p:sp>
        <p:nvSpPr>
          <p:cNvPr id="7" name="Shape 5"/>
          <p:cNvSpPr/>
          <p:nvPr/>
        </p:nvSpPr>
        <p:spPr>
          <a:xfrm>
            <a:off x="1143000" y="4051548"/>
            <a:ext cx="5130775" cy="19050"/>
          </a:xfrm>
          <a:prstGeom prst="rect">
            <a:avLst/>
          </a:prstGeom>
          <a:solidFill>
            <a:srgbClr val="C8102E"/>
          </a:solidFill>
          <a:ln/>
        </p:spPr>
      </p:sp>
      <p:sp>
        <p:nvSpPr>
          <p:cNvPr id="8" name="Text 6"/>
          <p:cNvSpPr/>
          <p:nvPr/>
        </p:nvSpPr>
        <p:spPr>
          <a:xfrm>
            <a:off x="1143000" y="4451598"/>
            <a:ext cx="928688" cy="876300"/>
          </a:xfrm>
          <a:prstGeom prst="rect">
            <a:avLst/>
          </a:prstGeom>
          <a:noFill/>
          <a:ln/>
        </p:spPr>
        <p:txBody>
          <a:bodyPr wrap="square" lIns="25400" tIns="25400" rIns="25400" bIns="25400" rtlCol="0" anchor="t">
            <a:normAutofit/>
          </a:bodyPr>
          <a:lstStyle/>
          <a:p>
            <a:pPr algn="l" indent="0" marL="0">
              <a:lnSpc>
                <a:spcPct val="88000"/>
              </a:lnSpc>
              <a:buNone/>
            </a:pPr>
            <a:r>
              <a:rPr lang="en-US" sz="7500" b="1" spc="-150" kern="0" dirty="0">
                <a:solidFill>
                  <a:srgbClr val="C8102E"/>
                </a:solidFill>
                <a:latin typeface="Arial" pitchFamily="34" charset="0"/>
                <a:ea typeface="Arial" pitchFamily="34" charset="-122"/>
                <a:cs typeface="Arial" pitchFamily="34" charset="-120"/>
              </a:rPr>
              <a:t>01</a:t>
            </a:r>
            <a:endParaRPr lang="en-US" sz="7500" dirty="0"/>
          </a:p>
        </p:txBody>
      </p:sp>
      <p:sp>
        <p:nvSpPr>
          <p:cNvPr id="9" name="Text 7"/>
          <p:cNvSpPr/>
          <p:nvPr/>
        </p:nvSpPr>
        <p:spPr>
          <a:xfrm>
            <a:off x="2147888" y="5065961"/>
            <a:ext cx="1859607"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~55% PIPELINE</a:t>
            </a:r>
            <a:endParaRPr lang="en-US" sz="1800" dirty="0"/>
          </a:p>
        </p:txBody>
      </p:sp>
      <p:sp>
        <p:nvSpPr>
          <p:cNvPr id="10" name="Text 8"/>
          <p:cNvSpPr/>
          <p:nvPr/>
        </p:nvSpPr>
        <p:spPr>
          <a:xfrm>
            <a:off x="1143000" y="5656511"/>
            <a:ext cx="5284698" cy="490686"/>
          </a:xfrm>
          <a:prstGeom prst="rect">
            <a:avLst/>
          </a:prstGeom>
          <a:noFill/>
          <a:ln/>
        </p:spPr>
        <p:txBody>
          <a:bodyPr wrap="square" lIns="25400" tIns="25400" rIns="25400" bIns="25400" rtlCol="0" anchor="t">
            <a:normAutofit/>
          </a:bodyPr>
          <a:lstStyle/>
          <a:p>
            <a:pPr algn="l" indent="0" marL="0">
              <a:lnSpc>
                <a:spcPct val="108000"/>
              </a:lnSpc>
              <a:buNone/>
            </a:pPr>
            <a:r>
              <a:rPr lang="en-US" sz="3300" spc="33" kern="0" dirty="0">
                <a:solidFill>
                  <a:srgbClr val="D4D4D8"/>
                </a:solidFill>
                <a:latin typeface="Arial" pitchFamily="34" charset="0"/>
                <a:ea typeface="Arial" pitchFamily="34" charset="-122"/>
                <a:cs typeface="Arial" pitchFamily="34" charset="-120"/>
              </a:rPr>
              <a:t>DIRECT ENTERPRISE.</a:t>
            </a:r>
            <a:endParaRPr lang="en-US" sz="3300" dirty="0"/>
          </a:p>
        </p:txBody>
      </p:sp>
      <p:sp>
        <p:nvSpPr>
          <p:cNvPr id="11" name="Text 9"/>
          <p:cNvSpPr/>
          <p:nvPr/>
        </p:nvSpPr>
        <p:spPr>
          <a:xfrm>
            <a:off x="1143000" y="6356747"/>
            <a:ext cx="5284698" cy="107818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4D8"/>
                </a:solidFill>
                <a:latin typeface="Arial" pitchFamily="34" charset="0"/>
                <a:ea typeface="Arial" pitchFamily="34" charset="-122"/>
                <a:cs typeface="Arial" pitchFamily="34" charset="-120"/>
              </a:rPr>
              <a:t>Critical infrastructure, F500 campus security, private estates. 6–9-month cycle, $0.5M–$4M ACV.</a:t>
            </a:r>
            <a:endParaRPr lang="en-US" sz="1950" dirty="0"/>
          </a:p>
        </p:txBody>
      </p:sp>
      <p:sp>
        <p:nvSpPr>
          <p:cNvPr id="12" name="Text 10"/>
          <p:cNvSpPr/>
          <p:nvPr/>
        </p:nvSpPr>
        <p:spPr>
          <a:xfrm>
            <a:off x="1143000" y="9098310"/>
            <a:ext cx="5284698"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AE-LED · HEAD OF SECURITY · CISO</a:t>
            </a:r>
            <a:endParaRPr lang="en-US" sz="1800" dirty="0"/>
          </a:p>
        </p:txBody>
      </p:sp>
      <p:sp>
        <p:nvSpPr>
          <p:cNvPr id="13" name="Shape 11"/>
          <p:cNvSpPr/>
          <p:nvPr/>
        </p:nvSpPr>
        <p:spPr>
          <a:xfrm>
            <a:off x="6578575" y="4051548"/>
            <a:ext cx="5130850" cy="19050"/>
          </a:xfrm>
          <a:prstGeom prst="rect">
            <a:avLst/>
          </a:prstGeom>
          <a:solidFill>
            <a:srgbClr val="C8102E"/>
          </a:solidFill>
          <a:ln/>
        </p:spPr>
      </p:sp>
      <p:sp>
        <p:nvSpPr>
          <p:cNvPr id="14" name="Text 12"/>
          <p:cNvSpPr/>
          <p:nvPr/>
        </p:nvSpPr>
        <p:spPr>
          <a:xfrm>
            <a:off x="6578575" y="4451598"/>
            <a:ext cx="1051620" cy="876300"/>
          </a:xfrm>
          <a:prstGeom prst="rect">
            <a:avLst/>
          </a:prstGeom>
          <a:noFill/>
          <a:ln/>
        </p:spPr>
        <p:txBody>
          <a:bodyPr wrap="square" lIns="25400" tIns="25400" rIns="25400" bIns="25400" rtlCol="0" anchor="t">
            <a:normAutofit/>
          </a:bodyPr>
          <a:lstStyle/>
          <a:p>
            <a:pPr algn="l" indent="0" marL="0">
              <a:lnSpc>
                <a:spcPct val="88000"/>
              </a:lnSpc>
              <a:buNone/>
            </a:pPr>
            <a:r>
              <a:rPr lang="en-US" sz="7500" b="1" spc="-150" kern="0" dirty="0">
                <a:solidFill>
                  <a:srgbClr val="C8102E"/>
                </a:solidFill>
                <a:latin typeface="Arial" pitchFamily="34" charset="0"/>
                <a:ea typeface="Arial" pitchFamily="34" charset="-122"/>
                <a:cs typeface="Arial" pitchFamily="34" charset="-120"/>
              </a:rPr>
              <a:t>02</a:t>
            </a:r>
            <a:endParaRPr lang="en-US" sz="7500" dirty="0"/>
          </a:p>
        </p:txBody>
      </p:sp>
      <p:sp>
        <p:nvSpPr>
          <p:cNvPr id="15" name="Text 13"/>
          <p:cNvSpPr/>
          <p:nvPr/>
        </p:nvSpPr>
        <p:spPr>
          <a:xfrm>
            <a:off x="7706395" y="5065961"/>
            <a:ext cx="1859607"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~30% PIPELINE</a:t>
            </a:r>
            <a:endParaRPr lang="en-US" sz="1800" dirty="0"/>
          </a:p>
        </p:txBody>
      </p:sp>
      <p:sp>
        <p:nvSpPr>
          <p:cNvPr id="16" name="Text 14"/>
          <p:cNvSpPr/>
          <p:nvPr/>
        </p:nvSpPr>
        <p:spPr>
          <a:xfrm>
            <a:off x="6578575" y="5656511"/>
            <a:ext cx="5284775" cy="490686"/>
          </a:xfrm>
          <a:prstGeom prst="rect">
            <a:avLst/>
          </a:prstGeom>
          <a:noFill/>
          <a:ln/>
        </p:spPr>
        <p:txBody>
          <a:bodyPr wrap="square" lIns="25400" tIns="25400" rIns="25400" bIns="25400" rtlCol="0" anchor="t">
            <a:normAutofit/>
          </a:bodyPr>
          <a:lstStyle/>
          <a:p>
            <a:pPr algn="l" indent="0" marL="0">
              <a:lnSpc>
                <a:spcPct val="108000"/>
              </a:lnSpc>
              <a:buNone/>
            </a:pPr>
            <a:r>
              <a:rPr lang="en-US" sz="3300" spc="33" kern="0" dirty="0">
                <a:solidFill>
                  <a:srgbClr val="D4D4D8"/>
                </a:solidFill>
                <a:latin typeface="Arial" pitchFamily="34" charset="0"/>
                <a:ea typeface="Arial" pitchFamily="34" charset="-122"/>
                <a:cs typeface="Arial" pitchFamily="34" charset="-120"/>
              </a:rPr>
              <a:t>INSURANCE CHANNEL.</a:t>
            </a:r>
            <a:endParaRPr lang="en-US" sz="3300" dirty="0"/>
          </a:p>
        </p:txBody>
      </p:sp>
      <p:sp>
        <p:nvSpPr>
          <p:cNvPr id="17" name="Text 15"/>
          <p:cNvSpPr/>
          <p:nvPr/>
        </p:nvSpPr>
        <p:spPr>
          <a:xfrm>
            <a:off x="6578575" y="6356747"/>
            <a:ext cx="5284775" cy="107818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4D8"/>
                </a:solidFill>
                <a:latin typeface="Arial" pitchFamily="34" charset="0"/>
                <a:ea typeface="Arial" pitchFamily="34" charset="-122"/>
                <a:cs typeface="Arial" pitchFamily="34" charset="-120"/>
              </a:rPr>
              <a:t>Carriers require DXD-style integrated response to underwrite. Referral flywheel, low CAC.</a:t>
            </a:r>
            <a:endParaRPr lang="en-US" sz="1950" dirty="0"/>
          </a:p>
        </p:txBody>
      </p:sp>
      <p:sp>
        <p:nvSpPr>
          <p:cNvPr id="18" name="Text 16"/>
          <p:cNvSpPr/>
          <p:nvPr/>
        </p:nvSpPr>
        <p:spPr>
          <a:xfrm>
            <a:off x="6578575" y="9098310"/>
            <a:ext cx="528477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UNDERWRITER · BROKER NETWORK</a:t>
            </a:r>
            <a:endParaRPr lang="en-US" sz="1800" dirty="0"/>
          </a:p>
        </p:txBody>
      </p:sp>
      <p:sp>
        <p:nvSpPr>
          <p:cNvPr id="19" name="Shape 17"/>
          <p:cNvSpPr/>
          <p:nvPr/>
        </p:nvSpPr>
        <p:spPr>
          <a:xfrm>
            <a:off x="12014225" y="4051548"/>
            <a:ext cx="5130775" cy="19050"/>
          </a:xfrm>
          <a:prstGeom prst="rect">
            <a:avLst/>
          </a:prstGeom>
          <a:solidFill>
            <a:srgbClr val="C8102E"/>
          </a:solidFill>
          <a:ln/>
        </p:spPr>
      </p:sp>
      <p:sp>
        <p:nvSpPr>
          <p:cNvPr id="20" name="Text 18"/>
          <p:cNvSpPr/>
          <p:nvPr/>
        </p:nvSpPr>
        <p:spPr>
          <a:xfrm>
            <a:off x="12014225" y="4451598"/>
            <a:ext cx="1051620" cy="876300"/>
          </a:xfrm>
          <a:prstGeom prst="rect">
            <a:avLst/>
          </a:prstGeom>
          <a:noFill/>
          <a:ln/>
        </p:spPr>
        <p:txBody>
          <a:bodyPr wrap="square" lIns="25400" tIns="25400" rIns="25400" bIns="25400" rtlCol="0" anchor="t">
            <a:normAutofit/>
          </a:bodyPr>
          <a:lstStyle/>
          <a:p>
            <a:pPr algn="l" indent="0" marL="0">
              <a:lnSpc>
                <a:spcPct val="88000"/>
              </a:lnSpc>
              <a:buNone/>
            </a:pPr>
            <a:r>
              <a:rPr lang="en-US" sz="7500" b="1" spc="-150" kern="0" dirty="0">
                <a:solidFill>
                  <a:srgbClr val="C8102E"/>
                </a:solidFill>
                <a:latin typeface="Arial" pitchFamily="34" charset="0"/>
                <a:ea typeface="Arial" pitchFamily="34" charset="-122"/>
                <a:cs typeface="Arial" pitchFamily="34" charset="-120"/>
              </a:rPr>
              <a:t>03</a:t>
            </a:r>
            <a:endParaRPr lang="en-US" sz="7500" dirty="0"/>
          </a:p>
        </p:txBody>
      </p:sp>
      <p:sp>
        <p:nvSpPr>
          <p:cNvPr id="21" name="Text 19"/>
          <p:cNvSpPr/>
          <p:nvPr/>
        </p:nvSpPr>
        <p:spPr>
          <a:xfrm>
            <a:off x="13142044" y="5065961"/>
            <a:ext cx="1859607"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~15% PIPELINE</a:t>
            </a:r>
            <a:endParaRPr lang="en-US" sz="1800" dirty="0"/>
          </a:p>
        </p:txBody>
      </p:sp>
      <p:sp>
        <p:nvSpPr>
          <p:cNvPr id="22" name="Text 20"/>
          <p:cNvSpPr/>
          <p:nvPr/>
        </p:nvSpPr>
        <p:spPr>
          <a:xfrm>
            <a:off x="12014225" y="5656511"/>
            <a:ext cx="5284698" cy="490686"/>
          </a:xfrm>
          <a:prstGeom prst="rect">
            <a:avLst/>
          </a:prstGeom>
          <a:noFill/>
          <a:ln/>
        </p:spPr>
        <p:txBody>
          <a:bodyPr wrap="square" lIns="25400" tIns="25400" rIns="25400" bIns="25400" rtlCol="0" anchor="t">
            <a:normAutofit/>
          </a:bodyPr>
          <a:lstStyle/>
          <a:p>
            <a:pPr algn="l" indent="0" marL="0">
              <a:lnSpc>
                <a:spcPct val="108000"/>
              </a:lnSpc>
              <a:buNone/>
            </a:pPr>
            <a:r>
              <a:rPr lang="en-US" sz="3300" spc="33" kern="0" dirty="0">
                <a:solidFill>
                  <a:srgbClr val="D4D4D8"/>
                </a:solidFill>
                <a:latin typeface="Arial" pitchFamily="34" charset="0"/>
                <a:ea typeface="Arial" pitchFamily="34" charset="-122"/>
                <a:cs typeface="Arial" pitchFamily="34" charset="-120"/>
              </a:rPr>
              <a:t>PUBLIC SECTOR.</a:t>
            </a:r>
            <a:endParaRPr lang="en-US" sz="3300" dirty="0"/>
          </a:p>
        </p:txBody>
      </p:sp>
      <p:sp>
        <p:nvSpPr>
          <p:cNvPr id="23" name="Text 21"/>
          <p:cNvSpPr/>
          <p:nvPr/>
        </p:nvSpPr>
        <p:spPr>
          <a:xfrm>
            <a:off x="12014225" y="6356747"/>
            <a:ext cx="5284698"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4D8"/>
                </a:solidFill>
                <a:latin typeface="Arial" pitchFamily="34" charset="0"/>
                <a:ea typeface="Arial" pitchFamily="34" charset="-122"/>
                <a:cs typeface="Arial" pitchFamily="34" charset="-120"/>
              </a:rPr>
              <a:t>Municipal, transit, and federal pilots. Long cycle, durable contracts, policy moat.</a:t>
            </a:r>
            <a:endParaRPr lang="en-US" sz="1950" dirty="0"/>
          </a:p>
        </p:txBody>
      </p:sp>
      <p:sp>
        <p:nvSpPr>
          <p:cNvPr id="24" name="Text 22"/>
          <p:cNvSpPr/>
          <p:nvPr/>
        </p:nvSpPr>
        <p:spPr>
          <a:xfrm>
            <a:off x="12014225" y="9098310"/>
            <a:ext cx="5284698"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GOV · FEDRAMP · GOVCLOUD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5401925" y="419100"/>
            <a:ext cx="181927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13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TEAM</a:t>
            </a:r>
            <a:endParaRPr lang="en-US" sz="1800" dirty="0"/>
          </a:p>
        </p:txBody>
      </p:sp>
      <p:pic>
        <p:nvPicPr>
          <p:cNvPr id="5" name="Image 0" descr="preencoded.png">    </p:cNvPr>
          <p:cNvPicPr>
            <a:picLocks noChangeAspect="1"/>
          </p:cNvPicPr>
          <p:nvPr/>
        </p:nvPicPr>
        <p:blipFill>
          <a:blip r:embed="rId1"/>
          <a:srcRect l="0" r="0" t="0" b="0"/>
          <a:stretch/>
        </p:blipFill>
        <p:spPr>
          <a:xfrm>
            <a:off x="1143000" y="2008956"/>
            <a:ext cx="6477000" cy="7429500"/>
          </a:xfrm>
          <a:prstGeom prst="rect">
            <a:avLst/>
          </a:prstGeom>
        </p:spPr>
      </p:pic>
      <p:sp>
        <p:nvSpPr>
          <p:cNvPr id="6" name="Text 3"/>
          <p:cNvSpPr/>
          <p:nvPr/>
        </p:nvSpPr>
        <p:spPr>
          <a:xfrm>
            <a:off x="8305800" y="1047750"/>
            <a:ext cx="9104376"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TEAM</a:t>
            </a:r>
            <a:endParaRPr lang="en-US" sz="1800" dirty="0"/>
          </a:p>
        </p:txBody>
      </p:sp>
      <p:sp>
        <p:nvSpPr>
          <p:cNvPr id="7" name="Text 4"/>
          <p:cNvSpPr/>
          <p:nvPr/>
        </p:nvSpPr>
        <p:spPr>
          <a:xfrm>
            <a:off x="8305800" y="2076450"/>
            <a:ext cx="9104376" cy="2369641"/>
          </a:xfrm>
          <a:prstGeom prst="rect">
            <a:avLst/>
          </a:prstGeom>
          <a:noFill/>
          <a:ln/>
        </p:spPr>
        <p:txBody>
          <a:bodyPr wrap="square" lIns="25400" tIns="25400" rIns="25400" bIns="25400" rtlCol="0" anchor="t">
            <a:normAutofit/>
          </a:bodyPr>
          <a:lstStyle/>
          <a:p>
            <a:pPr algn="l" indent="0" marL="0">
              <a:lnSpc>
                <a:spcPct val="102000"/>
              </a:lnSpc>
              <a:buNone/>
            </a:pPr>
            <a:r>
              <a:rPr lang="en-US" sz="6000" b="1" spc="-30" kern="0" dirty="0">
                <a:solidFill>
                  <a:srgbClr val="FFFFFF"/>
                </a:solidFill>
                <a:latin typeface="Arial" pitchFamily="34" charset="0"/>
                <a:ea typeface="Arial" pitchFamily="34" charset="-122"/>
                <a:cs typeface="Arial" pitchFamily="34" charset="-120"/>
              </a:rPr>
              <a:t>OPERATORS AND ENGINEERS. </a:t>
            </a:r>
            <a:pPr algn="l" indent="0" marL="0">
              <a:lnSpc>
                <a:spcPct val="102000"/>
              </a:lnSpc>
              <a:buNone/>
            </a:pPr>
            <a:r>
              <a:rPr lang="en-US" sz="6000" b="1" spc="-30" kern="0" dirty="0">
                <a:solidFill>
                  <a:srgbClr val="C8102E"/>
                </a:solidFill>
                <a:latin typeface="Arial" pitchFamily="34" charset="0"/>
                <a:ea typeface="Arial" pitchFamily="34" charset="-122"/>
                <a:cs typeface="Arial" pitchFamily="34" charset="-120"/>
              </a:rPr>
              <a:t>SAME ROOM.</a:t>
            </a:r>
            <a:endParaRPr lang="en-US" sz="6000" dirty="0"/>
          </a:p>
        </p:txBody>
      </p:sp>
      <p:sp>
        <p:nvSpPr>
          <p:cNvPr id="8" name="Text 5"/>
          <p:cNvSpPr/>
          <p:nvPr/>
        </p:nvSpPr>
        <p:spPr>
          <a:xfrm>
            <a:off x="8305800" y="4827091"/>
            <a:ext cx="91043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FOUNDING TEAM</a:t>
            </a:r>
            <a:endParaRPr lang="en-US" sz="1800" dirty="0"/>
          </a:p>
        </p:txBody>
      </p:sp>
      <p:sp>
        <p:nvSpPr>
          <p:cNvPr id="9" name="Text 6"/>
          <p:cNvSpPr/>
          <p:nvPr/>
        </p:nvSpPr>
        <p:spPr>
          <a:xfrm>
            <a:off x="8305800" y="5227141"/>
            <a:ext cx="9104376"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4D8"/>
                </a:solidFill>
                <a:latin typeface="Arial" pitchFamily="34" charset="0"/>
                <a:ea typeface="Arial" pitchFamily="34" charset="-122"/>
                <a:cs typeface="Arial" pitchFamily="34" charset="-120"/>
              </a:rPr>
              <a:t>Special operations · federal law enforcement · forward-deployed engineering (Palantir, Anduril, Scale).</a:t>
            </a:r>
            <a:endParaRPr lang="en-US" sz="1950" dirty="0"/>
          </a:p>
        </p:txBody>
      </p:sp>
      <p:sp>
        <p:nvSpPr>
          <p:cNvPr id="10" name="Shape 7"/>
          <p:cNvSpPr/>
          <p:nvPr/>
        </p:nvSpPr>
        <p:spPr>
          <a:xfrm>
            <a:off x="8305800" y="6530132"/>
            <a:ext cx="8839200" cy="9525"/>
          </a:xfrm>
          <a:prstGeom prst="rect">
            <a:avLst/>
          </a:prstGeom>
          <a:solidFill>
            <a:srgbClr val="FFFFFF">
              <a:alpha val="12000"/>
            </a:srgbClr>
          </a:solidFill>
          <a:ln/>
        </p:spPr>
      </p:sp>
      <p:sp>
        <p:nvSpPr>
          <p:cNvPr id="11" name="Text 8"/>
          <p:cNvSpPr/>
          <p:nvPr/>
        </p:nvSpPr>
        <p:spPr>
          <a:xfrm>
            <a:off x="8305800" y="7149257"/>
            <a:ext cx="91043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ADVISORY BOARD</a:t>
            </a:r>
            <a:endParaRPr lang="en-US" sz="1800" dirty="0"/>
          </a:p>
        </p:txBody>
      </p:sp>
      <p:sp>
        <p:nvSpPr>
          <p:cNvPr id="12" name="Text 9"/>
          <p:cNvSpPr/>
          <p:nvPr/>
        </p:nvSpPr>
        <p:spPr>
          <a:xfrm>
            <a:off x="8305800" y="7549307"/>
            <a:ext cx="9104376"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4D8"/>
                </a:solidFill>
                <a:latin typeface="Arial" pitchFamily="34" charset="0"/>
                <a:ea typeface="Arial" pitchFamily="34" charset="-122"/>
                <a:cs typeface="Arial" pitchFamily="34" charset="-120"/>
              </a:rPr>
              <a:t>Former senior DoD leadership · former Director, U.S. Secret Service · two public-company security-industry CEOs.</a:t>
            </a:r>
            <a:endParaRPr lang="en-US" sz="1950" dirty="0"/>
          </a:p>
        </p:txBody>
      </p:sp>
      <p:sp>
        <p:nvSpPr>
          <p:cNvPr id="13" name="Shape 10"/>
          <p:cNvSpPr/>
          <p:nvPr/>
        </p:nvSpPr>
        <p:spPr>
          <a:xfrm>
            <a:off x="8305800" y="8852297"/>
            <a:ext cx="8839200" cy="9525"/>
          </a:xfrm>
          <a:prstGeom prst="rect">
            <a:avLst/>
          </a:prstGeom>
          <a:solidFill>
            <a:srgbClr val="FFFFFF">
              <a:alpha val="12000"/>
            </a:srgbClr>
          </a:solidFill>
          <a:ln/>
        </p:spPr>
      </p:sp>
      <p:sp>
        <p:nvSpPr>
          <p:cNvPr id="14" name="Text 11"/>
          <p:cNvSpPr/>
          <p:nvPr/>
        </p:nvSpPr>
        <p:spPr>
          <a:xfrm>
            <a:off x="8305800" y="9471422"/>
            <a:ext cx="693167" cy="574477"/>
          </a:xfrm>
          <a:prstGeom prst="rect">
            <a:avLst/>
          </a:prstGeom>
          <a:noFill/>
          <a:ln/>
        </p:spPr>
        <p:txBody>
          <a:bodyPr wrap="square" lIns="25400" tIns="25400" rIns="25400" bIns="25400" rtlCol="0" anchor="t">
            <a:normAutofit/>
          </a:bodyPr>
          <a:lstStyle/>
          <a:p>
            <a:pPr algn="l" indent="0" marL="0">
              <a:lnSpc>
                <a:spcPct val="88000"/>
              </a:lnSpc>
              <a:buNone/>
            </a:pPr>
            <a:r>
              <a:rPr lang="en-US" sz="4800" b="1" spc="-96" kern="0" dirty="0">
                <a:solidFill>
                  <a:srgbClr val="FFFFFF"/>
                </a:solidFill>
                <a:latin typeface="Arial" pitchFamily="34" charset="0"/>
                <a:ea typeface="Arial" pitchFamily="34" charset="-122"/>
                <a:cs typeface="Arial" pitchFamily="34" charset="-120"/>
              </a:rPr>
              <a:t>63</a:t>
            </a:r>
            <a:endParaRPr lang="en-US" sz="4800" dirty="0"/>
          </a:p>
        </p:txBody>
      </p:sp>
      <p:sp>
        <p:nvSpPr>
          <p:cNvPr id="15" name="Text 12"/>
          <p:cNvSpPr/>
          <p:nvPr/>
        </p:nvSpPr>
        <p:spPr>
          <a:xfrm>
            <a:off x="8305800" y="10064948"/>
            <a:ext cx="693167"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TEAM</a:t>
            </a:r>
            <a:endParaRPr lang="en-US" sz="1800" dirty="0"/>
          </a:p>
        </p:txBody>
      </p:sp>
      <p:sp>
        <p:nvSpPr>
          <p:cNvPr id="16" name="Text 13"/>
          <p:cNvSpPr/>
          <p:nvPr/>
        </p:nvSpPr>
        <p:spPr>
          <a:xfrm>
            <a:off x="9303767" y="9471422"/>
            <a:ext cx="1036513" cy="577751"/>
          </a:xfrm>
          <a:prstGeom prst="rect">
            <a:avLst/>
          </a:prstGeom>
          <a:noFill/>
          <a:ln/>
        </p:spPr>
        <p:txBody>
          <a:bodyPr wrap="square" lIns="25400" tIns="25400" rIns="25400" bIns="25400" rtlCol="0" anchor="t">
            <a:normAutofit/>
          </a:bodyPr>
          <a:lstStyle/>
          <a:p>
            <a:pPr algn="l" indent="0" marL="0">
              <a:lnSpc>
                <a:spcPct val="88000"/>
              </a:lnSpc>
              <a:buNone/>
            </a:pPr>
            <a:r>
              <a:rPr lang="en-US" sz="4800" b="1" spc="-96" kern="0" dirty="0">
                <a:solidFill>
                  <a:srgbClr val="FFFFFF"/>
                </a:solidFill>
                <a:latin typeface="Arial" pitchFamily="34" charset="0"/>
                <a:ea typeface="Arial" pitchFamily="34" charset="-122"/>
                <a:cs typeface="Arial" pitchFamily="34" charset="-120"/>
              </a:rPr>
              <a:t>38 </a:t>
            </a:r>
            <a:pPr algn="l" indent="0" marL="0">
              <a:lnSpc>
                <a:spcPct val="88000"/>
              </a:lnSpc>
              <a:buNone/>
            </a:pPr>
            <a:r>
              <a:rPr lang="en-US" sz="2400" b="1" spc="-96" kern="0" dirty="0">
                <a:solidFill>
                  <a:srgbClr val="9A9AA3"/>
                </a:solidFill>
                <a:latin typeface="Arial" pitchFamily="34" charset="0"/>
                <a:ea typeface="Arial" pitchFamily="34" charset="-122"/>
                <a:cs typeface="Arial" pitchFamily="34" charset="-120"/>
              </a:rPr>
              <a:t>%</a:t>
            </a:r>
            <a:endParaRPr lang="en-US" sz="4800" dirty="0"/>
          </a:p>
        </p:txBody>
      </p:sp>
      <p:sp>
        <p:nvSpPr>
          <p:cNvPr id="17" name="Text 14"/>
          <p:cNvSpPr/>
          <p:nvPr/>
        </p:nvSpPr>
        <p:spPr>
          <a:xfrm>
            <a:off x="9303767" y="10068223"/>
            <a:ext cx="1036513"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VETERAN</a:t>
            </a:r>
            <a:endParaRPr lang="en-US" sz="1800" dirty="0"/>
          </a:p>
        </p:txBody>
      </p:sp>
      <p:sp>
        <p:nvSpPr>
          <p:cNvPr id="18" name="Text 15"/>
          <p:cNvSpPr/>
          <p:nvPr/>
        </p:nvSpPr>
        <p:spPr>
          <a:xfrm>
            <a:off x="10645080" y="9471422"/>
            <a:ext cx="1036513" cy="574477"/>
          </a:xfrm>
          <a:prstGeom prst="rect">
            <a:avLst/>
          </a:prstGeom>
          <a:noFill/>
          <a:ln/>
        </p:spPr>
        <p:txBody>
          <a:bodyPr wrap="square" lIns="25400" tIns="25400" rIns="25400" bIns="25400" rtlCol="0" anchor="t">
            <a:normAutofit/>
          </a:bodyPr>
          <a:lstStyle/>
          <a:p>
            <a:pPr algn="l" indent="0" marL="0">
              <a:lnSpc>
                <a:spcPct val="88000"/>
              </a:lnSpc>
              <a:buNone/>
            </a:pPr>
            <a:r>
              <a:rPr lang="en-US" sz="4800" b="1" spc="-96" kern="0" dirty="0">
                <a:solidFill>
                  <a:srgbClr val="C8102E"/>
                </a:solidFill>
                <a:latin typeface="Arial" pitchFamily="34" charset="0"/>
                <a:ea typeface="Arial" pitchFamily="34" charset="-122"/>
                <a:cs typeface="Arial" pitchFamily="34" charset="-120"/>
              </a:rPr>
              <a:t>1</a:t>
            </a:r>
            <a:endParaRPr lang="en-US" sz="4800" dirty="0"/>
          </a:p>
        </p:txBody>
      </p:sp>
      <p:sp>
        <p:nvSpPr>
          <p:cNvPr id="19" name="Text 16"/>
          <p:cNvSpPr/>
          <p:nvPr/>
        </p:nvSpPr>
        <p:spPr>
          <a:xfrm>
            <a:off x="10645080" y="10064948"/>
            <a:ext cx="1036513"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A9AA3"/>
                </a:solidFill>
                <a:latin typeface="Courier New" pitchFamily="34" charset="0"/>
                <a:ea typeface="Courier New" pitchFamily="34" charset="-122"/>
                <a:cs typeface="Courier New" pitchFamily="34" charset="-120"/>
              </a:rPr>
              <a:t>MISSION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0" y="485775"/>
            <a:ext cx="209550" cy="209550"/>
          </a:xfrm>
          <a:prstGeom prst="rect">
            <a:avLst/>
          </a:prstGeom>
          <a:solidFill>
            <a:srgbClr val="C8102E"/>
          </a:solidFill>
          <a:ln/>
        </p:spPr>
      </p:sp>
      <p:sp>
        <p:nvSpPr>
          <p:cNvPr id="3" name="Text 1"/>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4" name="Text 2"/>
          <p:cNvSpPr/>
          <p:nvPr/>
        </p:nvSpPr>
        <p:spPr>
          <a:xfrm>
            <a:off x="15023529" y="419100"/>
            <a:ext cx="219767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14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THE ASK</a:t>
            </a:r>
            <a:endParaRPr lang="en-US" sz="1800" dirty="0"/>
          </a:p>
        </p:txBody>
      </p:sp>
      <p:sp>
        <p:nvSpPr>
          <p:cNvPr id="5" name="Text 3"/>
          <p:cNvSpPr/>
          <p:nvPr/>
        </p:nvSpPr>
        <p:spPr>
          <a:xfrm>
            <a:off x="1143000" y="1047750"/>
            <a:ext cx="164820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SERIES A</a:t>
            </a:r>
            <a:endParaRPr lang="en-US" sz="1800" dirty="0"/>
          </a:p>
        </p:txBody>
      </p:sp>
      <p:sp>
        <p:nvSpPr>
          <p:cNvPr id="6" name="Text 4"/>
          <p:cNvSpPr/>
          <p:nvPr/>
        </p:nvSpPr>
        <p:spPr>
          <a:xfrm>
            <a:off x="1143000" y="1657350"/>
            <a:ext cx="14716125" cy="1670298"/>
          </a:xfrm>
          <a:prstGeom prst="rect">
            <a:avLst/>
          </a:prstGeom>
          <a:noFill/>
          <a:ln/>
        </p:spPr>
        <p:txBody>
          <a:bodyPr wrap="square" lIns="25400" tIns="25400" rIns="25400" bIns="25400" rtlCol="0" anchor="t">
            <a:normAutofit/>
          </a:bodyPr>
          <a:lstStyle/>
          <a:p>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RAISING </a:t>
            </a:r>
            <a:pPr algn="l" indent="0" marL="0">
              <a:lnSpc>
                <a:spcPct val="102000"/>
              </a:lnSpc>
              <a:buNone/>
            </a:pPr>
            <a:r>
              <a:rPr lang="en-US" sz="6300" b="1" spc="-31" kern="0" dirty="0">
                <a:solidFill>
                  <a:srgbClr val="C8102E"/>
                </a:solidFill>
                <a:latin typeface="Arial" pitchFamily="34" charset="0"/>
                <a:ea typeface="Arial" pitchFamily="34" charset="-122"/>
                <a:cs typeface="Arial" pitchFamily="34" charset="-120"/>
              </a:rPr>
              <a:t>$100M </a:t>
            </a:r>
            <a:pPr algn="l" indent="0" marL="0">
              <a:lnSpc>
                <a:spcPct val="102000"/>
              </a:lnSpc>
              <a:buNone/>
            </a:pPr>
            <a:r>
              <a:rPr lang="en-US" sz="6300" b="1" spc="-31" kern="0" dirty="0">
                <a:solidFill>
                  <a:srgbClr val="FFFFFF"/>
                </a:solidFill>
                <a:latin typeface="Arial" pitchFamily="34" charset="0"/>
                <a:ea typeface="Arial" pitchFamily="34" charset="-122"/>
                <a:cs typeface="Arial" pitchFamily="34" charset="-120"/>
              </a:rPr>
              <a:t>TO LEAD THE CATEGORY.</a:t>
            </a:r>
            <a:endParaRPr lang="en-US" sz="6300" dirty="0"/>
          </a:p>
        </p:txBody>
      </p:sp>
      <p:sp>
        <p:nvSpPr>
          <p:cNvPr id="7" name="Text 5"/>
          <p:cNvSpPr/>
          <p:nvPr/>
        </p:nvSpPr>
        <p:spPr>
          <a:xfrm>
            <a:off x="1143000" y="4051548"/>
            <a:ext cx="8422989"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USE OF FUNDS</a:t>
            </a:r>
            <a:endParaRPr lang="en-US" sz="1800" dirty="0"/>
          </a:p>
        </p:txBody>
      </p:sp>
      <p:sp>
        <p:nvSpPr>
          <p:cNvPr id="8" name="Text 6"/>
          <p:cNvSpPr/>
          <p:nvPr/>
        </p:nvSpPr>
        <p:spPr>
          <a:xfrm>
            <a:off x="1143000" y="4789736"/>
            <a:ext cx="5193566"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48" kern="0" dirty="0">
                <a:solidFill>
                  <a:srgbClr val="FFFFFF"/>
                </a:solidFill>
                <a:latin typeface="Arial" pitchFamily="34" charset="0"/>
                <a:ea typeface="Arial" pitchFamily="34" charset="-122"/>
                <a:cs typeface="Arial" pitchFamily="34" charset="-120"/>
              </a:rPr>
              <a:t>FLEET &amp; COVERAGE EXPANSION</a:t>
            </a:r>
            <a:endParaRPr lang="en-US" sz="2400" dirty="0"/>
          </a:p>
        </p:txBody>
      </p:sp>
      <p:sp>
        <p:nvSpPr>
          <p:cNvPr id="9" name="Text 7"/>
          <p:cNvSpPr/>
          <p:nvPr/>
        </p:nvSpPr>
        <p:spPr>
          <a:xfrm>
            <a:off x="8397106" y="4718298"/>
            <a:ext cx="999753" cy="440382"/>
          </a:xfrm>
          <a:prstGeom prst="rect">
            <a:avLst/>
          </a:prstGeom>
          <a:noFill/>
          <a:ln/>
        </p:spPr>
        <p:txBody>
          <a:bodyPr wrap="square" lIns="25400" tIns="25400" rIns="25400" bIns="25400" rtlCol="0" anchor="t">
            <a:normAutofit/>
          </a:bodyPr>
          <a:lstStyle/>
          <a:p>
            <a:pPr algn="l" indent="0" marL="0">
              <a:lnSpc>
                <a:spcPct val="88000"/>
              </a:lnSpc>
              <a:buNone/>
            </a:pPr>
            <a:r>
              <a:rPr lang="en-US" sz="3600" b="1" spc="-72" kern="0" dirty="0">
                <a:solidFill>
                  <a:srgbClr val="C8102E"/>
                </a:solidFill>
                <a:latin typeface="Arial" pitchFamily="34" charset="0"/>
                <a:ea typeface="Arial" pitchFamily="34" charset="-122"/>
                <a:cs typeface="Arial" pitchFamily="34" charset="-120"/>
              </a:rPr>
              <a:t>40%</a:t>
            </a:r>
            <a:endParaRPr lang="en-US" sz="3600" dirty="0"/>
          </a:p>
        </p:txBody>
      </p:sp>
      <p:sp>
        <p:nvSpPr>
          <p:cNvPr id="10" name="Shape 8"/>
          <p:cNvSpPr/>
          <p:nvPr/>
        </p:nvSpPr>
        <p:spPr>
          <a:xfrm>
            <a:off x="1143000" y="5361236"/>
            <a:ext cx="8177659" cy="95250"/>
          </a:xfrm>
          <a:prstGeom prst="rect">
            <a:avLst/>
          </a:prstGeom>
          <a:solidFill>
            <a:srgbClr val="1E1E22"/>
          </a:solidFill>
          <a:ln/>
        </p:spPr>
      </p:sp>
      <p:sp>
        <p:nvSpPr>
          <p:cNvPr id="11" name="Shape 9"/>
          <p:cNvSpPr/>
          <p:nvPr/>
        </p:nvSpPr>
        <p:spPr>
          <a:xfrm>
            <a:off x="1143000" y="5361236"/>
            <a:ext cx="3271019" cy="95250"/>
          </a:xfrm>
          <a:prstGeom prst="rect">
            <a:avLst/>
          </a:prstGeom>
          <a:solidFill>
            <a:srgbClr val="C8102E"/>
          </a:solidFill>
          <a:ln/>
        </p:spPr>
      </p:sp>
      <p:sp>
        <p:nvSpPr>
          <p:cNvPr id="12" name="Text 10"/>
          <p:cNvSpPr/>
          <p:nvPr/>
        </p:nvSpPr>
        <p:spPr>
          <a:xfrm>
            <a:off x="1143000" y="5570786"/>
            <a:ext cx="842298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12 → 40 markets · drone fleet × 4 · regional ops</a:t>
            </a:r>
            <a:endParaRPr lang="en-US" sz="1950" dirty="0"/>
          </a:p>
        </p:txBody>
      </p:sp>
      <p:sp>
        <p:nvSpPr>
          <p:cNvPr id="13" name="Text 11"/>
          <p:cNvSpPr/>
          <p:nvPr/>
        </p:nvSpPr>
        <p:spPr>
          <a:xfrm>
            <a:off x="1143000" y="6210821"/>
            <a:ext cx="3530567"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48" kern="0" dirty="0">
                <a:solidFill>
                  <a:srgbClr val="FFFFFF"/>
                </a:solidFill>
                <a:latin typeface="Arial" pitchFamily="34" charset="0"/>
                <a:ea typeface="Arial" pitchFamily="34" charset="-122"/>
                <a:cs typeface="Arial" pitchFamily="34" charset="-120"/>
              </a:rPr>
              <a:t>COMMAND PLATFORM</a:t>
            </a:r>
            <a:endParaRPr lang="en-US" sz="2400" dirty="0"/>
          </a:p>
        </p:txBody>
      </p:sp>
      <p:sp>
        <p:nvSpPr>
          <p:cNvPr id="14" name="Text 12"/>
          <p:cNvSpPr/>
          <p:nvPr/>
        </p:nvSpPr>
        <p:spPr>
          <a:xfrm>
            <a:off x="8401645" y="6139383"/>
            <a:ext cx="995214" cy="440382"/>
          </a:xfrm>
          <a:prstGeom prst="rect">
            <a:avLst/>
          </a:prstGeom>
          <a:noFill/>
          <a:ln/>
        </p:spPr>
        <p:txBody>
          <a:bodyPr wrap="square" lIns="25400" tIns="25400" rIns="25400" bIns="25400" rtlCol="0" anchor="t">
            <a:normAutofit/>
          </a:bodyPr>
          <a:lstStyle/>
          <a:p>
            <a:pPr algn="l" indent="0" marL="0">
              <a:lnSpc>
                <a:spcPct val="88000"/>
              </a:lnSpc>
              <a:buNone/>
            </a:pPr>
            <a:r>
              <a:rPr lang="en-US" sz="3600" b="1" spc="-72" kern="0" dirty="0">
                <a:solidFill>
                  <a:srgbClr val="C8102E"/>
                </a:solidFill>
                <a:latin typeface="Arial" pitchFamily="34" charset="0"/>
                <a:ea typeface="Arial" pitchFamily="34" charset="-122"/>
                <a:cs typeface="Arial" pitchFamily="34" charset="-120"/>
              </a:rPr>
              <a:t>30%</a:t>
            </a:r>
            <a:endParaRPr lang="en-US" sz="3600" dirty="0"/>
          </a:p>
        </p:txBody>
      </p:sp>
      <p:sp>
        <p:nvSpPr>
          <p:cNvPr id="15" name="Shape 13"/>
          <p:cNvSpPr/>
          <p:nvPr/>
        </p:nvSpPr>
        <p:spPr>
          <a:xfrm>
            <a:off x="1143000" y="6782321"/>
            <a:ext cx="8177659" cy="95250"/>
          </a:xfrm>
          <a:prstGeom prst="rect">
            <a:avLst/>
          </a:prstGeom>
          <a:solidFill>
            <a:srgbClr val="1E1E22"/>
          </a:solidFill>
          <a:ln/>
        </p:spPr>
      </p:sp>
      <p:sp>
        <p:nvSpPr>
          <p:cNvPr id="16" name="Shape 14"/>
          <p:cNvSpPr/>
          <p:nvPr/>
        </p:nvSpPr>
        <p:spPr>
          <a:xfrm>
            <a:off x="1143000" y="6782321"/>
            <a:ext cx="2453283" cy="95250"/>
          </a:xfrm>
          <a:prstGeom prst="rect">
            <a:avLst/>
          </a:prstGeom>
          <a:solidFill>
            <a:srgbClr val="C8102E"/>
          </a:solidFill>
          <a:ln/>
        </p:spPr>
      </p:sp>
      <p:sp>
        <p:nvSpPr>
          <p:cNvPr id="17" name="Text 15"/>
          <p:cNvSpPr/>
          <p:nvPr/>
        </p:nvSpPr>
        <p:spPr>
          <a:xfrm>
            <a:off x="1143000" y="6991871"/>
            <a:ext cx="842298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Engineering · AI detection · FedRAMP acceleration</a:t>
            </a:r>
            <a:endParaRPr lang="en-US" sz="1950" dirty="0"/>
          </a:p>
        </p:txBody>
      </p:sp>
      <p:sp>
        <p:nvSpPr>
          <p:cNvPr id="18" name="Text 16"/>
          <p:cNvSpPr/>
          <p:nvPr/>
        </p:nvSpPr>
        <p:spPr>
          <a:xfrm>
            <a:off x="1143000" y="7631906"/>
            <a:ext cx="1258788"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48" kern="0" dirty="0">
                <a:solidFill>
                  <a:srgbClr val="FFFFFF"/>
                </a:solidFill>
                <a:latin typeface="Arial" pitchFamily="34" charset="0"/>
                <a:ea typeface="Arial" pitchFamily="34" charset="-122"/>
                <a:cs typeface="Arial" pitchFamily="34" charset="-120"/>
              </a:rPr>
              <a:t>TALENT</a:t>
            </a:r>
            <a:endParaRPr lang="en-US" sz="2400" dirty="0"/>
          </a:p>
        </p:txBody>
      </p:sp>
      <p:sp>
        <p:nvSpPr>
          <p:cNvPr id="19" name="Text 17"/>
          <p:cNvSpPr/>
          <p:nvPr/>
        </p:nvSpPr>
        <p:spPr>
          <a:xfrm>
            <a:off x="8401645" y="7560469"/>
            <a:ext cx="995214" cy="440382"/>
          </a:xfrm>
          <a:prstGeom prst="rect">
            <a:avLst/>
          </a:prstGeom>
          <a:noFill/>
          <a:ln/>
        </p:spPr>
        <p:txBody>
          <a:bodyPr wrap="square" lIns="25400" tIns="25400" rIns="25400" bIns="25400" rtlCol="0" anchor="t">
            <a:normAutofit/>
          </a:bodyPr>
          <a:lstStyle/>
          <a:p>
            <a:pPr algn="l" indent="0" marL="0">
              <a:lnSpc>
                <a:spcPct val="88000"/>
              </a:lnSpc>
              <a:buNone/>
            </a:pPr>
            <a:r>
              <a:rPr lang="en-US" sz="3600" b="1" spc="-72" kern="0" dirty="0">
                <a:solidFill>
                  <a:srgbClr val="C8102E"/>
                </a:solidFill>
                <a:latin typeface="Arial" pitchFamily="34" charset="0"/>
                <a:ea typeface="Arial" pitchFamily="34" charset="-122"/>
                <a:cs typeface="Arial" pitchFamily="34" charset="-120"/>
              </a:rPr>
              <a:t>20%</a:t>
            </a:r>
            <a:endParaRPr lang="en-US" sz="3600" dirty="0"/>
          </a:p>
        </p:txBody>
      </p:sp>
      <p:sp>
        <p:nvSpPr>
          <p:cNvPr id="20" name="Shape 18"/>
          <p:cNvSpPr/>
          <p:nvPr/>
        </p:nvSpPr>
        <p:spPr>
          <a:xfrm>
            <a:off x="1143000" y="8203406"/>
            <a:ext cx="8177659" cy="95250"/>
          </a:xfrm>
          <a:prstGeom prst="rect">
            <a:avLst/>
          </a:prstGeom>
          <a:solidFill>
            <a:srgbClr val="1E1E22"/>
          </a:solidFill>
          <a:ln/>
        </p:spPr>
      </p:sp>
      <p:sp>
        <p:nvSpPr>
          <p:cNvPr id="21" name="Shape 19"/>
          <p:cNvSpPr/>
          <p:nvPr/>
        </p:nvSpPr>
        <p:spPr>
          <a:xfrm>
            <a:off x="1143000" y="8203406"/>
            <a:ext cx="1635472" cy="95250"/>
          </a:xfrm>
          <a:prstGeom prst="rect">
            <a:avLst/>
          </a:prstGeom>
          <a:solidFill>
            <a:srgbClr val="C8102E"/>
          </a:solidFill>
          <a:ln/>
        </p:spPr>
      </p:sp>
      <p:sp>
        <p:nvSpPr>
          <p:cNvPr id="22" name="Text 20"/>
          <p:cNvSpPr/>
          <p:nvPr/>
        </p:nvSpPr>
        <p:spPr>
          <a:xfrm>
            <a:off x="1143000" y="8412956"/>
            <a:ext cx="842298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Operators · engineers · enterprise sales</a:t>
            </a:r>
            <a:endParaRPr lang="en-US" sz="1950" dirty="0"/>
          </a:p>
        </p:txBody>
      </p:sp>
      <p:sp>
        <p:nvSpPr>
          <p:cNvPr id="23" name="Text 21"/>
          <p:cNvSpPr/>
          <p:nvPr/>
        </p:nvSpPr>
        <p:spPr>
          <a:xfrm>
            <a:off x="1143000" y="9052992"/>
            <a:ext cx="6073621"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spc="48" kern="0" dirty="0">
                <a:solidFill>
                  <a:srgbClr val="FFFFFF"/>
                </a:solidFill>
                <a:latin typeface="Arial" pitchFamily="34" charset="0"/>
                <a:ea typeface="Arial" pitchFamily="34" charset="-122"/>
                <a:cs typeface="Arial" pitchFamily="34" charset="-120"/>
              </a:rPr>
              <a:t>WORKING CAPITAL &amp; BALANCE SHEET</a:t>
            </a:r>
            <a:endParaRPr lang="en-US" sz="2400" dirty="0"/>
          </a:p>
        </p:txBody>
      </p:sp>
      <p:sp>
        <p:nvSpPr>
          <p:cNvPr id="24" name="Text 22"/>
          <p:cNvSpPr/>
          <p:nvPr/>
        </p:nvSpPr>
        <p:spPr>
          <a:xfrm>
            <a:off x="8460656" y="8981554"/>
            <a:ext cx="936203" cy="440382"/>
          </a:xfrm>
          <a:prstGeom prst="rect">
            <a:avLst/>
          </a:prstGeom>
          <a:noFill/>
          <a:ln/>
        </p:spPr>
        <p:txBody>
          <a:bodyPr wrap="square" lIns="25400" tIns="25400" rIns="25400" bIns="25400" rtlCol="0" anchor="t">
            <a:normAutofit/>
          </a:bodyPr>
          <a:lstStyle/>
          <a:p>
            <a:pPr algn="l" indent="0" marL="0">
              <a:lnSpc>
                <a:spcPct val="88000"/>
              </a:lnSpc>
              <a:buNone/>
            </a:pPr>
            <a:r>
              <a:rPr lang="en-US" sz="3600" b="1" spc="-72" kern="0" dirty="0">
                <a:solidFill>
                  <a:srgbClr val="C8102E"/>
                </a:solidFill>
                <a:latin typeface="Arial" pitchFamily="34" charset="0"/>
                <a:ea typeface="Arial" pitchFamily="34" charset="-122"/>
                <a:cs typeface="Arial" pitchFamily="34" charset="-120"/>
              </a:rPr>
              <a:t>10%</a:t>
            </a:r>
            <a:endParaRPr lang="en-US" sz="3600" dirty="0"/>
          </a:p>
        </p:txBody>
      </p:sp>
      <p:sp>
        <p:nvSpPr>
          <p:cNvPr id="25" name="Shape 23"/>
          <p:cNvSpPr/>
          <p:nvPr/>
        </p:nvSpPr>
        <p:spPr>
          <a:xfrm>
            <a:off x="1143000" y="9624492"/>
            <a:ext cx="8177659" cy="95250"/>
          </a:xfrm>
          <a:prstGeom prst="rect">
            <a:avLst/>
          </a:prstGeom>
          <a:solidFill>
            <a:srgbClr val="1E1E22"/>
          </a:solidFill>
          <a:ln/>
        </p:spPr>
      </p:sp>
      <p:sp>
        <p:nvSpPr>
          <p:cNvPr id="26" name="Shape 24"/>
          <p:cNvSpPr/>
          <p:nvPr/>
        </p:nvSpPr>
        <p:spPr>
          <a:xfrm>
            <a:off x="1143000" y="9624492"/>
            <a:ext cx="817736" cy="95250"/>
          </a:xfrm>
          <a:prstGeom prst="rect">
            <a:avLst/>
          </a:prstGeom>
          <a:solidFill>
            <a:srgbClr val="C8102E"/>
          </a:solidFill>
          <a:ln/>
        </p:spPr>
      </p:sp>
      <p:sp>
        <p:nvSpPr>
          <p:cNvPr id="27" name="Text 25"/>
          <p:cNvSpPr/>
          <p:nvPr/>
        </p:nvSpPr>
        <p:spPr>
          <a:xfrm>
            <a:off x="1143000" y="9834042"/>
            <a:ext cx="8422989"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Bonding capacity for enterprise &amp; federal contracts</a:t>
            </a:r>
            <a:endParaRPr lang="en-US" sz="1950" dirty="0"/>
          </a:p>
        </p:txBody>
      </p:sp>
      <p:sp>
        <p:nvSpPr>
          <p:cNvPr id="28" name="Shape 26"/>
          <p:cNvSpPr/>
          <p:nvPr/>
        </p:nvSpPr>
        <p:spPr>
          <a:xfrm>
            <a:off x="9625459" y="4051548"/>
            <a:ext cx="7519541" cy="6141541"/>
          </a:xfrm>
          <a:prstGeom prst="rect">
            <a:avLst/>
          </a:prstGeom>
          <a:solidFill>
            <a:srgbClr val="1A0408"/>
          </a:solidFill>
          <a:ln w="9525">
            <a:solidFill>
              <a:srgbClr val="C8102E"/>
            </a:solidFill>
            <a:prstDash val="solid"/>
          </a:ln>
        </p:spPr>
      </p:sp>
      <p:sp>
        <p:nvSpPr>
          <p:cNvPr id="29" name="Text 27"/>
          <p:cNvSpPr/>
          <p:nvPr/>
        </p:nvSpPr>
        <p:spPr>
          <a:xfrm>
            <a:off x="9977884" y="4403973"/>
            <a:ext cx="701913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8102E"/>
                </a:solidFill>
                <a:latin typeface="Courier New" pitchFamily="34" charset="0"/>
                <a:ea typeface="Courier New" pitchFamily="34" charset="-122"/>
                <a:cs typeface="Courier New" pitchFamily="34" charset="-120"/>
              </a:rPr>
              <a:t>24-MONTH MILESTONES</a:t>
            </a:r>
            <a:endParaRPr lang="en-US" sz="1800" dirty="0"/>
          </a:p>
        </p:txBody>
      </p:sp>
      <p:sp>
        <p:nvSpPr>
          <p:cNvPr id="30" name="Text 28"/>
          <p:cNvSpPr/>
          <p:nvPr/>
        </p:nvSpPr>
        <p:spPr>
          <a:xfrm>
            <a:off x="9977884" y="4956423"/>
            <a:ext cx="7019132" cy="742131"/>
          </a:xfrm>
          <a:prstGeom prst="rect">
            <a:avLst/>
          </a:prstGeom>
          <a:noFill/>
          <a:ln/>
        </p:spPr>
        <p:txBody>
          <a:bodyPr wrap="square" lIns="25400" tIns="25400" rIns="25400" bIns="25400" rtlCol="0" anchor="t">
            <a:normAutofit/>
          </a:bodyPr>
          <a:lstStyle/>
          <a:p>
            <a:pPr algn="l" indent="0" marL="0">
              <a:lnSpc>
                <a:spcPct val="88000"/>
              </a:lnSpc>
              <a:buNone/>
            </a:pPr>
            <a:r>
              <a:rPr lang="en-US" sz="6300" b="1" spc="-126" kern="0" dirty="0">
                <a:solidFill>
                  <a:srgbClr val="C8102E"/>
                </a:solidFill>
                <a:latin typeface="Arial" pitchFamily="34" charset="0"/>
                <a:ea typeface="Arial" pitchFamily="34" charset="-122"/>
                <a:cs typeface="Arial" pitchFamily="34" charset="-120"/>
              </a:rPr>
              <a:t>$200M</a:t>
            </a:r>
            <a:endParaRPr lang="en-US" sz="6300" dirty="0"/>
          </a:p>
        </p:txBody>
      </p:sp>
      <p:sp>
        <p:nvSpPr>
          <p:cNvPr id="31" name="Text 29"/>
          <p:cNvSpPr/>
          <p:nvPr/>
        </p:nvSpPr>
        <p:spPr>
          <a:xfrm>
            <a:off x="9977884" y="5660454"/>
            <a:ext cx="7019132"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Target ARR on deployed capital</a:t>
            </a:r>
            <a:endParaRPr lang="en-US" sz="1950" dirty="0"/>
          </a:p>
        </p:txBody>
      </p:sp>
      <p:sp>
        <p:nvSpPr>
          <p:cNvPr id="32" name="Shape 30"/>
          <p:cNvSpPr/>
          <p:nvPr/>
        </p:nvSpPr>
        <p:spPr>
          <a:xfrm>
            <a:off x="9977884" y="6210002"/>
            <a:ext cx="590550" cy="38100"/>
          </a:xfrm>
          <a:prstGeom prst="rect">
            <a:avLst/>
          </a:prstGeom>
          <a:solidFill>
            <a:srgbClr val="C8102E"/>
          </a:solidFill>
          <a:ln w="9525">
            <a:solidFill>
              <a:srgbClr val="808080"/>
            </a:solidFill>
            <a:prstDash val="solid"/>
          </a:ln>
        </p:spPr>
      </p:sp>
      <p:sp>
        <p:nvSpPr>
          <p:cNvPr id="33" name="Text 31"/>
          <p:cNvSpPr/>
          <p:nvPr/>
        </p:nvSpPr>
        <p:spPr>
          <a:xfrm>
            <a:off x="9977884" y="6438602"/>
            <a:ext cx="7019132" cy="507429"/>
          </a:xfrm>
          <a:prstGeom prst="rect">
            <a:avLst/>
          </a:prstGeom>
          <a:noFill/>
          <a:ln/>
        </p:spPr>
        <p:txBody>
          <a:bodyPr wrap="square" lIns="25400" tIns="25400" rIns="25400" bIns="25400" rtlCol="0" anchor="t">
            <a:normAutofit/>
          </a:bodyPr>
          <a:lstStyle/>
          <a:p>
            <a:pPr algn="l" indent="0" marL="0">
              <a:lnSpc>
                <a:spcPct val="88000"/>
              </a:lnSpc>
              <a:buNone/>
            </a:pPr>
            <a:r>
              <a:rPr lang="en-US" sz="4200" b="1" spc="-84" kern="0" dirty="0">
                <a:solidFill>
                  <a:srgbClr val="FFFFFF"/>
                </a:solidFill>
                <a:latin typeface="Arial" pitchFamily="34" charset="0"/>
                <a:ea typeface="Arial" pitchFamily="34" charset="-122"/>
                <a:cs typeface="Arial" pitchFamily="34" charset="-120"/>
              </a:rPr>
              <a:t>40</a:t>
            </a:r>
            <a:endParaRPr lang="en-US" sz="4200" dirty="0"/>
          </a:p>
        </p:txBody>
      </p:sp>
      <p:sp>
        <p:nvSpPr>
          <p:cNvPr id="34" name="Text 32"/>
          <p:cNvSpPr/>
          <p:nvPr/>
        </p:nvSpPr>
        <p:spPr>
          <a:xfrm>
            <a:off x="9977884" y="6907932"/>
            <a:ext cx="7019132"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Metropolitan markets with coverage</a:t>
            </a:r>
            <a:endParaRPr lang="en-US" sz="1950" dirty="0"/>
          </a:p>
        </p:txBody>
      </p:sp>
      <p:sp>
        <p:nvSpPr>
          <p:cNvPr id="35" name="Shape 33"/>
          <p:cNvSpPr/>
          <p:nvPr/>
        </p:nvSpPr>
        <p:spPr>
          <a:xfrm>
            <a:off x="9977884" y="7457480"/>
            <a:ext cx="590550" cy="38100"/>
          </a:xfrm>
          <a:prstGeom prst="rect">
            <a:avLst/>
          </a:prstGeom>
          <a:solidFill>
            <a:srgbClr val="C8102E"/>
          </a:solidFill>
          <a:ln w="9525">
            <a:solidFill>
              <a:srgbClr val="808080"/>
            </a:solidFill>
            <a:prstDash val="solid"/>
          </a:ln>
        </p:spPr>
      </p:sp>
      <p:sp>
        <p:nvSpPr>
          <p:cNvPr id="36" name="Text 34"/>
          <p:cNvSpPr/>
          <p:nvPr/>
        </p:nvSpPr>
        <p:spPr>
          <a:xfrm>
            <a:off x="9977884" y="7686080"/>
            <a:ext cx="7019132" cy="507429"/>
          </a:xfrm>
          <a:prstGeom prst="rect">
            <a:avLst/>
          </a:prstGeom>
          <a:noFill/>
          <a:ln/>
        </p:spPr>
        <p:txBody>
          <a:bodyPr wrap="square" lIns="25400" tIns="25400" rIns="25400" bIns="25400" rtlCol="0" anchor="t">
            <a:normAutofit/>
          </a:bodyPr>
          <a:lstStyle/>
          <a:p>
            <a:pPr algn="l" indent="0" marL="0">
              <a:lnSpc>
                <a:spcPct val="88000"/>
              </a:lnSpc>
              <a:buNone/>
            </a:pPr>
            <a:r>
              <a:rPr lang="en-US" sz="4200" b="1" spc="-84" kern="0" dirty="0">
                <a:solidFill>
                  <a:srgbClr val="FFFFFF"/>
                </a:solidFill>
                <a:latin typeface="Arial" pitchFamily="34" charset="0"/>
                <a:ea typeface="Arial" pitchFamily="34" charset="-122"/>
                <a:cs typeface="Arial" pitchFamily="34" charset="-120"/>
              </a:rPr>
              <a:t>300+</a:t>
            </a:r>
            <a:endParaRPr lang="en-US" sz="4200" dirty="0"/>
          </a:p>
        </p:txBody>
      </p:sp>
      <p:sp>
        <p:nvSpPr>
          <p:cNvPr id="37" name="Text 35"/>
          <p:cNvSpPr/>
          <p:nvPr/>
        </p:nvSpPr>
        <p:spPr>
          <a:xfrm>
            <a:off x="9977884" y="8155409"/>
            <a:ext cx="7019132"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Enterprise &amp; public-sector accounts</a:t>
            </a:r>
            <a:endParaRPr lang="en-US" sz="1950" dirty="0"/>
          </a:p>
        </p:txBody>
      </p:sp>
      <p:sp>
        <p:nvSpPr>
          <p:cNvPr id="38" name="Shape 36"/>
          <p:cNvSpPr/>
          <p:nvPr/>
        </p:nvSpPr>
        <p:spPr>
          <a:xfrm>
            <a:off x="9977884" y="8704957"/>
            <a:ext cx="590550" cy="38100"/>
          </a:xfrm>
          <a:prstGeom prst="rect">
            <a:avLst/>
          </a:prstGeom>
          <a:solidFill>
            <a:srgbClr val="C8102E"/>
          </a:solidFill>
          <a:ln w="9525">
            <a:solidFill>
              <a:srgbClr val="808080"/>
            </a:solidFill>
            <a:prstDash val="solid"/>
          </a:ln>
        </p:spPr>
      </p:sp>
      <p:sp>
        <p:nvSpPr>
          <p:cNvPr id="39" name="Text 37"/>
          <p:cNvSpPr/>
          <p:nvPr/>
        </p:nvSpPr>
        <p:spPr>
          <a:xfrm>
            <a:off x="9977884" y="8933557"/>
            <a:ext cx="7019132" cy="507429"/>
          </a:xfrm>
          <a:prstGeom prst="rect">
            <a:avLst/>
          </a:prstGeom>
          <a:noFill/>
          <a:ln/>
        </p:spPr>
        <p:txBody>
          <a:bodyPr wrap="square" lIns="25400" tIns="25400" rIns="25400" bIns="25400" rtlCol="0" anchor="t">
            <a:normAutofit/>
          </a:bodyPr>
          <a:lstStyle/>
          <a:p>
            <a:pPr algn="l" indent="0" marL="0">
              <a:lnSpc>
                <a:spcPct val="88000"/>
              </a:lnSpc>
              <a:buNone/>
            </a:pPr>
            <a:r>
              <a:rPr lang="en-US" sz="4200" b="1" spc="-84" kern="0" dirty="0">
                <a:solidFill>
                  <a:srgbClr val="FFFFFF"/>
                </a:solidFill>
                <a:latin typeface="Arial" pitchFamily="34" charset="0"/>
                <a:ea typeface="Arial" pitchFamily="34" charset="-122"/>
                <a:cs typeface="Arial" pitchFamily="34" charset="-120"/>
              </a:rPr>
              <a:t>FedRAMP</a:t>
            </a:r>
            <a:endParaRPr lang="en-US" sz="4200" dirty="0"/>
          </a:p>
        </p:txBody>
      </p:sp>
      <p:sp>
        <p:nvSpPr>
          <p:cNvPr id="40" name="Text 38"/>
          <p:cNvSpPr/>
          <p:nvPr/>
        </p:nvSpPr>
        <p:spPr>
          <a:xfrm>
            <a:off x="9977884" y="9402887"/>
            <a:ext cx="7019132"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9A9AA3"/>
                </a:solidFill>
                <a:latin typeface="Arial" pitchFamily="34" charset="0"/>
                <a:ea typeface="Arial" pitchFamily="34" charset="-122"/>
                <a:cs typeface="Arial" pitchFamily="34" charset="-120"/>
              </a:rPr>
              <a:t>Moderate authorization complete</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rcRect l="0" r="0" t="0" b="0"/>
          <a:stretch/>
        </p:blipFill>
        <p:spPr>
          <a:xfrm>
            <a:off x="0" y="0"/>
            <a:ext cx="18288000" cy="10287000"/>
          </a:xfrm>
          <a:prstGeom prst="rect">
            <a:avLst/>
          </a:prstGeom>
        </p:spPr>
      </p:pic>
      <p:sp>
        <p:nvSpPr>
          <p:cNvPr id="3" name="Shape 0"/>
          <p:cNvSpPr/>
          <p:nvPr/>
        </p:nvSpPr>
        <p:spPr>
          <a:xfrm>
            <a:off x="-1714500" y="4572000"/>
            <a:ext cx="7429500" cy="7429500"/>
          </a:xfrm>
          <a:prstGeom prst="rect">
            <a:avLst/>
          </a:prstGeom>
          <a:solidFill>
            <a:srgbClr val="C8102E">
              <a:alpha val="8000"/>
            </a:srgbClr>
          </a:solidFill>
          <a:ln/>
        </p:spPr>
      </p:sp>
      <p:sp>
        <p:nvSpPr>
          <p:cNvPr id="4" name="Shape 1"/>
          <p:cNvSpPr/>
          <p:nvPr/>
        </p:nvSpPr>
        <p:spPr>
          <a:xfrm>
            <a:off x="1143000" y="485775"/>
            <a:ext cx="209550" cy="209550"/>
          </a:xfrm>
          <a:prstGeom prst="rect">
            <a:avLst/>
          </a:prstGeom>
          <a:solidFill>
            <a:srgbClr val="C8102E"/>
          </a:solidFill>
          <a:ln/>
        </p:spPr>
      </p:sp>
      <p:sp>
        <p:nvSpPr>
          <p:cNvPr id="5" name="Text 2"/>
          <p:cNvSpPr/>
          <p:nvPr/>
        </p:nvSpPr>
        <p:spPr>
          <a:xfrm>
            <a:off x="1485900" y="419100"/>
            <a:ext cx="2033736" cy="376238"/>
          </a:xfrm>
          <a:prstGeom prst="rect">
            <a:avLst/>
          </a:prstGeom>
          <a:noFill/>
          <a:ln/>
        </p:spPr>
        <p:txBody>
          <a:bodyPr wrap="square" lIns="0" tIns="0" rIns="0" bIns="0" rtlCol="0" anchor="t">
            <a:normAutofit/>
          </a:bodyPr>
          <a:lstStyle/>
          <a:p>
            <a:pPr algn="l" indent="0" marL="0">
              <a:lnSpc>
                <a:spcPct val="150000"/>
              </a:lnSpc>
              <a:buNone/>
            </a:pPr>
            <a:r>
              <a:rPr lang="en-US" sz="1800" spc="288" kern="0" dirty="0">
                <a:solidFill>
                  <a:srgbClr val="6B6B73"/>
                </a:solidFill>
                <a:latin typeface="Arial" pitchFamily="34" charset="0"/>
                <a:ea typeface="Arial" pitchFamily="34" charset="-122"/>
                <a:cs typeface="Arial" pitchFamily="34" charset="-120"/>
              </a:rPr>
              <a:t>DEUS X DEFENSE</a:t>
            </a:r>
            <a:endParaRPr lang="en-US" sz="1800" dirty="0"/>
          </a:p>
        </p:txBody>
      </p:sp>
      <p:sp>
        <p:nvSpPr>
          <p:cNvPr id="6" name="Text 3"/>
          <p:cNvSpPr/>
          <p:nvPr/>
        </p:nvSpPr>
        <p:spPr>
          <a:xfrm>
            <a:off x="14671030" y="419100"/>
            <a:ext cx="25501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288" kern="0" dirty="0">
                <a:solidFill>
                  <a:srgbClr val="FFFFFF"/>
                </a:solidFill>
                <a:latin typeface="Arial" pitchFamily="34" charset="0"/>
                <a:ea typeface="Arial" pitchFamily="34" charset="-122"/>
                <a:cs typeface="Arial" pitchFamily="34" charset="-120"/>
              </a:rPr>
              <a:t>15 </a:t>
            </a:r>
            <a:pPr algn="l" indent="0" marL="0">
              <a:lnSpc>
                <a:spcPct val="150000"/>
              </a:lnSpc>
              <a:buNone/>
            </a:pPr>
            <a:r>
              <a:rPr lang="en-US" sz="1800" spc="288" kern="0" dirty="0">
                <a:solidFill>
                  <a:srgbClr val="9A9AA3"/>
                </a:solidFill>
                <a:latin typeface="Arial" pitchFamily="34" charset="0"/>
                <a:ea typeface="Arial" pitchFamily="34" charset="-122"/>
                <a:cs typeface="Arial" pitchFamily="34" charset="-120"/>
              </a:rPr>
              <a:t>/ 15 · THANK YOU</a:t>
            </a:r>
            <a:endParaRPr lang="en-US" sz="1800" dirty="0"/>
          </a:p>
        </p:txBody>
      </p:sp>
      <p:sp>
        <p:nvSpPr>
          <p:cNvPr id="7" name="Text 4"/>
          <p:cNvSpPr/>
          <p:nvPr/>
        </p:nvSpPr>
        <p:spPr>
          <a:xfrm>
            <a:off x="1143000" y="1047750"/>
            <a:ext cx="487326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spc="396" kern="0" dirty="0">
                <a:solidFill>
                  <a:srgbClr val="C8102E"/>
                </a:solidFill>
                <a:latin typeface="Arial" pitchFamily="34" charset="0"/>
                <a:ea typeface="Arial" pitchFamily="34" charset="-122"/>
                <a:cs typeface="Arial" pitchFamily="34" charset="-120"/>
              </a:rPr>
              <a:t>PROACTIVE SECURITY PAYS OFF</a:t>
            </a:r>
            <a:endParaRPr lang="en-US" sz="1800" dirty="0"/>
          </a:p>
        </p:txBody>
      </p:sp>
      <p:sp>
        <p:nvSpPr>
          <p:cNvPr id="8" name="Text 5"/>
          <p:cNvSpPr/>
          <p:nvPr/>
        </p:nvSpPr>
        <p:spPr>
          <a:xfrm>
            <a:off x="1143000" y="1657350"/>
            <a:ext cx="11268336" cy="5947321"/>
          </a:xfrm>
          <a:prstGeom prst="rect">
            <a:avLst/>
          </a:prstGeom>
          <a:noFill/>
          <a:ln/>
        </p:spPr>
        <p:txBody>
          <a:bodyPr wrap="square" lIns="25400" tIns="25400" rIns="25400" bIns="25400" rtlCol="0" anchor="t">
            <a:normAutofit/>
          </a:bodyPr>
          <a:lstStyle/>
          <a:p>
            <a:pPr algn="l" indent="0" marL="0">
              <a:lnSpc>
                <a:spcPct val="94000"/>
              </a:lnSpc>
              <a:buNone/>
            </a:pPr>
            <a:r>
              <a:rPr lang="en-US" sz="16500" b="1" spc="-165" kern="0" dirty="0">
                <a:solidFill>
                  <a:srgbClr val="FFFFFF"/>
                </a:solidFill>
                <a:latin typeface="Arial" pitchFamily="34" charset="0"/>
                <a:ea typeface="Arial" pitchFamily="34" charset="-122"/>
                <a:cs typeface="Arial" pitchFamily="34" charset="-120"/>
              </a:rPr>
              <a:t>WE'RE HERE. WE KNOW. </a:t>
            </a:r>
            <a:pPr algn="l" indent="0" marL="0">
              <a:lnSpc>
                <a:spcPct val="94000"/>
              </a:lnSpc>
              <a:buNone/>
            </a:pPr>
            <a:r>
              <a:rPr lang="en-US" sz="16500" b="1" spc="-165" kern="0" dirty="0">
                <a:solidFill>
                  <a:srgbClr val="C8102E"/>
                </a:solidFill>
                <a:latin typeface="Arial" pitchFamily="34" charset="0"/>
                <a:ea typeface="Arial" pitchFamily="34" charset="-122"/>
                <a:cs typeface="Arial" pitchFamily="34" charset="-120"/>
              </a:rPr>
              <a:t>WE'RE READY.</a:t>
            </a:r>
            <a:endParaRPr lang="en-US" sz="16500" dirty="0"/>
          </a:p>
        </p:txBody>
      </p:sp>
      <p:pic>
        <p:nvPicPr>
          <p:cNvPr id="9" name="Image 1" descr="preencoded.png">    </p:cNvPr>
          <p:cNvPicPr>
            <a:picLocks noChangeAspect="1"/>
          </p:cNvPicPr>
          <p:nvPr/>
        </p:nvPicPr>
        <p:blipFill>
          <a:blip r:embed="rId2"/>
          <a:stretch>
            <a:fillRect/>
          </a:stretch>
        </p:blipFill>
        <p:spPr>
          <a:xfrm>
            <a:off x="1143000" y="8309521"/>
            <a:ext cx="1010692" cy="609600"/>
          </a:xfrm>
          <a:prstGeom prst="rect">
            <a:avLst/>
          </a:prstGeom>
        </p:spPr>
      </p:pic>
      <p:sp>
        <p:nvSpPr>
          <p:cNvPr id="10" name="Shape 6"/>
          <p:cNvSpPr/>
          <p:nvPr/>
        </p:nvSpPr>
        <p:spPr>
          <a:xfrm>
            <a:off x="2763292" y="8309521"/>
            <a:ext cx="9525" cy="609600"/>
          </a:xfrm>
          <a:prstGeom prst="rect">
            <a:avLst/>
          </a:prstGeom>
          <a:solidFill>
            <a:srgbClr val="FFFFFF">
              <a:alpha val="20000"/>
            </a:srgbClr>
          </a:solidFill>
          <a:ln/>
        </p:spPr>
      </p:sp>
      <p:sp>
        <p:nvSpPr>
          <p:cNvPr id="11" name="Text 7"/>
          <p:cNvSpPr/>
          <p:nvPr/>
        </p:nvSpPr>
        <p:spPr>
          <a:xfrm>
            <a:off x="3382417" y="8252371"/>
            <a:ext cx="353248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9A9AA3"/>
                </a:solidFill>
                <a:latin typeface="Courier New" pitchFamily="34" charset="0"/>
                <a:ea typeface="Courier New" pitchFamily="34" charset="-122"/>
                <a:cs typeface="Courier New" pitchFamily="34" charset="-120"/>
              </a:rPr>
              <a:t>SERIES A · CONFIDENTIAL</a:t>
            </a:r>
            <a:endParaRPr lang="en-US" sz="1800" dirty="0"/>
          </a:p>
        </p:txBody>
      </p:sp>
      <p:sp>
        <p:nvSpPr>
          <p:cNvPr id="12" name="Text 8"/>
          <p:cNvSpPr/>
          <p:nvPr/>
        </p:nvSpPr>
        <p:spPr>
          <a:xfrm>
            <a:off x="3382417" y="8633371"/>
            <a:ext cx="353248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D4D4D8"/>
                </a:solidFill>
                <a:latin typeface="Courier New" pitchFamily="34" charset="0"/>
                <a:ea typeface="Courier New" pitchFamily="34" charset="-122"/>
                <a:cs typeface="Courier New" pitchFamily="34" charset="-120"/>
              </a:rPr>
              <a:t>INVESTOR@DEUSXDEFENSE.COM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2026-04-20T03:33:06Z</dcterms:created>
  <dcterms:modified xsi:type="dcterms:W3CDTF">2026-04-20T03:33:06Z</dcterms:modified>
</cp:coreProperties>
</file>